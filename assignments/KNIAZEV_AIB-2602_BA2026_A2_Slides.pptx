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position" id="{8090ff81-fcf2-1a65-5c1e-7a789761fee6}">
          <p14:sldIdLst>
            <p14:sldId id="256"/>
          </p14:sldIdLst>
        </p14:section>
        <p14:section name="The process" id="{f42893c5-00a4-43af-206e-838d9a9621c4}">
          <p14:sldIdLst>
            <p14:sldId id="257"/>
          </p14:sldIdLst>
        </p14:section>
        <p14:section name="The allocation" id="{a9d1e89f-0453-a580-8710-28f18db0555d}">
          <p14:sldIdLst>
            <p14:sldId id="258"/>
            <p14:sldId id="259"/>
          </p14:sldIdLst>
        </p14:section>
        <p14:section name="Comparison and transfer" id="{1c194312-0627-e0a9-7a94-54666cf8a5fb}">
          <p14:sldIdLst>
            <p14:sldId id="260"/>
          </p14:sldIdLst>
        </p14:section>
        <p14:section name="Close" id="{b7f2c51e-e081-c7dd-eb9f-65d5046b68c3}">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0:00–0:30
Magnum Cash&amp;Carry should pilot AI for demand forecasting, while people approve orders and handle exceptions. Routine data checks can run automatically. This fits a retailer serving household and wholesale customers [1]. My Week 3 stress test identified a condition: stock records must match what is actually available before a forecasting trial begins.
Sources (numbers match script):
[1] Magnum Cash&amp;Carry, About us. https://hr.magnum.kz/en/about-company/
The targets and assigned roles are proposals for the pilot. The current workflow is a baseline to confirm with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0:30–1:15
The process is replenishment, from checking sales and stock to approving an order and receiving goods. Magnum publishes supplier and product acceptance rules, including remaining shelf life [2]. Its detailed workflow is not public, so the current map is a baseline to confirm with staff. The suspected bottleneck is reconciling stock and promotion information before ordering. My main KPI is shelf availability: successful availability checks divided by all scheduled checks. The proposed six-month target is 98 percent, with waste and ordering costs monitored alongside it.
Sources (numbers match script):
[2] Magnum Cash&amp;Carry, Corporate rules. https://magnum-space.magnum.kz/public/corporate/index_ru.html
The targets and assigned roles are proposals for the pilot. The current workflow is a baseline to confirm with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1:15–2:15
The matrix separates four categories. Human Only covers final order approval. The category manager checks quantities, shelf life and the budget because someone must remain accountable for the commitment. This applies the textbook’s distinction between authority and responsibility [3]. Human + AI covers promotion planning. Staff compare model suggestions with local events and supplier constraints, then decide what to change. Participative leadership gives employees a way to challenge forecasts and contributes their store knowledge. AI Executes with Human Review covers producing a demand forecast and draft quantities. The manager checks these against recent sales, physical stock and known promotions before approval. Automated covers fixed checks for missing fields and stale data, plus logging approved orders. These routine rules require no model judgment. The allocation follows the textbook’s planning and control cycle: set standards, compare outcomes and correct deviations [3].
Sources (numbers match script):
[2] Magnum Cash&amp;Carry, Corporate rules. https://magnum-space.magnum.kz/public/corporate/index_ru.html
[3] L. J. Gitman et al., Introduction to Business, 2nd ed., OpenStax, 2026, Ch. 6, 7 and 10. https://openstax.org/details/books/introduction-business-2e
[4] NIST, Artificial Intelligence Risk Management Framework (AI RMF 1.0), 2023. https://doi.org/10.6028/NIST.AI.100-1
[5] SAS, Carrefour forecasting announcement, Jan. 14, 2019. https://www.sas.com/es_mx/news/press-releases/locales/2019/carrefour-artificial-intelligence-retail-forecasting-nrf-2019.html
The targets and assigned roles are proposals for the pilot. The current workflow is a baseline to confirm with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2:15–2:45
If records disagree or the system fails, staff stop the affected recommendation and alert the category manager. Unresolved supply problems go to the supply-chain lead; technical faults go to IT. The manual fallback uses a physical count and verified sales to prepare an order for the same manager’s approval. NIST supports defined oversight, training and a non-AI alternative [4].
Sources (numbers match script):
[4] NIST, Artificial Intelligence Risk Management Framework (AI RMF 1.0), 2023. https://doi.org/10.6028/NIST.AI.100-1
The targets and assigned roles are proposals for the pilot. The current workflow is a baseline to confirm with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2:45–3:30
Carrefour provides the comparison. In January 2019, SAS reported that Carrefour selected its forecasting system after eighteen months of testing, using store, warehouse and online data [5]. The announcement describes intended improvements, not a measured return for Magnum. My verdict is PILOT. Magnum needs its own data checks and comparison with existing ordering. If stock accuracy fails, the verdict becomes DELAY.
Sources (numbers match script):
[5] SAS, Carrefour forecasting announcement, Jan. 14, 2019. https://www.sas.com/es_mx/news/press-releases/locales/2019/carrefour-artificial-intelligence-retail-forecasting-nrf-2019.html
The targets and assigned roles are proposals for the pilot. The current workflow is a baseline to confirm with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3:30–4:00
First, select one store and category, establish the baseline and practise manual ordering. Expand only if availability reaches the proposed target, forecast error improves and the net benefit remains positive after software and staff costs.
Sources (numbers match script):
[3] L. J. Gitman et al., Introduction to Business, 2nd ed., OpenStax, 2026, Ch. 6, 7 and 10. https://openstax.org/details/books/introduction-business-2e
[4] NIST, Artificial Intelligence Risk Management Framework (AI RMF 1.0), 2023. https://doi.org/10.6028/NIST.AI.100-1
[5] SAS, Carrefour forecasting announcement, Jan. 14, 2019. https://www.sas.com/es_mx/news/press-releases/locales/2019/carrefour-artificial-intelligence-retail-forecasting-nrf-2019.html
The targets and assigned roles are proposals for the pilot. The current workflow is a baseline to confirm with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758952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200" b="1" spc="200" kern="0" dirty="0">
                <a:solidFill>
                  <a:srgbClr val="A9C0C3"/>
                </a:solidFill>
              </a:rPr>
              <a:t>ASSIGNMENT 2  ·  VIDEO ESSAY</a:t>
            </a:r>
            <a:endParaRPr lang="en-US" sz="1200" dirty="0"/>
          </a:p>
        </p:txBody>
      </p:sp>
      <p:sp>
        <p:nvSpPr>
          <p:cNvPr id="3" name="Text 0"/>
          <p:cNvSpPr/>
          <p:nvPr>
            <p:ph idx="100" type="title" hasCustomPrompt="1"/>
          </p:nvPr>
        </p:nvSpPr>
        <p:spPr>
          <a:xfrm>
            <a:off x="548640" y="914400"/>
            <a:ext cx="7589520" cy="1554480"/>
          </a:xfrm>
          <a:prstGeom prst="rect">
            <a:avLst/>
          </a:prstGeom>
          <a:noFill/>
          <a:ln/>
        </p:spPr>
        <p:txBody>
          <a:bodyPr wrap="square" lIns="0" tIns="0" rIns="0" bIns="0" rtlCol="0" anchor="t"/>
          <a:lstStyle/>
          <a:p>
            <a:pPr algn="l" indent="0" marL="0">
              <a:buNone/>
            </a:pPr>
            <a:r>
              <a:rPr lang="en-US" sz="4400" b="1" dirty="0">
                <a:solidFill>
                  <a:schemeClr val="bg1"/>
                </a:solidFill>
              </a:rPr>
              <a:t>Magnum’s human–AI operating model</a:t>
            </a:r>
            <a:endParaRPr lang="en-US" sz="4400" dirty="0"/>
          </a:p>
        </p:txBody>
      </p:sp>
      <p:sp>
        <p:nvSpPr>
          <p:cNvPr id="4" name="Chip AI + review"/>
          <p:cNvSpPr txBox="1"/>
          <p:nvPr/>
        </p:nvSpPr>
        <p:spPr>
          <a:xfrm>
            <a:off x="548640" y="2779776"/>
            <a:ext cx="1325880" cy="310896"/>
          </a:xfrm>
          <a:prstGeom prst="roundRect">
            <a:avLst>
              <a:gd name="adj" fmla="val 50000"/>
            </a:avLst>
          </a:prstGeom>
          <a:solidFill>
            <a:schemeClr val="accent3"/>
          </a:solidFill>
          <a:ln w="12700">
            <a:solidFill>
              <a:schemeClr val="accent3"/>
            </a:solidFill>
          </a:ln>
        </p:spPr>
        <p:txBody>
          <a:bodyPr wrap="square" lIns="0" tIns="0" rIns="0" bIns="0" rtlCol="0" anchor="ctr"/>
          <a:lstStyle/>
          <a:p>
            <a:pPr algn="ctr" indent="0" marL="0">
              <a:buNone/>
            </a:pPr>
            <a:r>
              <a:rPr lang="en-US" sz="1200" b="1" dirty="0">
                <a:solidFill>
                  <a:schemeClr val="bg1"/>
                </a:solidFill>
              </a:rPr>
              <a:t>AI + review</a:t>
            </a:r>
            <a:endParaRPr lang="en-US" sz="1200" dirty="0"/>
          </a:p>
        </p:txBody>
      </p:sp>
      <p:sp>
        <p:nvSpPr>
          <p:cNvPr id="5" name="Text 3"/>
          <p:cNvSpPr txBox="1"/>
          <p:nvPr/>
        </p:nvSpPr>
        <p:spPr>
          <a:xfrm>
            <a:off x="2103120" y="2743200"/>
            <a:ext cx="6035040" cy="384048"/>
          </a:xfrm>
          <a:prstGeom prst="rect">
            <a:avLst/>
          </a:prstGeom>
          <a:noFill/>
          <a:ln/>
        </p:spPr>
        <p:txBody>
          <a:bodyPr wrap="square" lIns="0" tIns="0" rIns="0" bIns="0" rtlCol="0" anchor="ctr"/>
          <a:lstStyle/>
          <a:p>
            <a:pPr indent="0" marL="0">
              <a:buNone/>
            </a:pPr>
            <a:r>
              <a:rPr lang="en-US" sz="2100" dirty="0">
                <a:solidFill>
                  <a:schemeClr val="bg1"/>
                </a:solidFill>
              </a:rPr>
              <a:t>Pilot AI demand forecasting.</a:t>
            </a:r>
            <a:endParaRPr lang="en-US" sz="2100" dirty="0"/>
          </a:p>
        </p:txBody>
      </p:sp>
      <p:sp>
        <p:nvSpPr>
          <p:cNvPr id="6" name="Chip Human Only"/>
          <p:cNvSpPr txBox="1"/>
          <p:nvPr/>
        </p:nvSpPr>
        <p:spPr>
          <a:xfrm>
            <a:off x="548640" y="3346704"/>
            <a:ext cx="1325880" cy="310896"/>
          </a:xfrm>
          <a:prstGeom prst="roundRect">
            <a:avLst>
              <a:gd name="adj" fmla="val 50000"/>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bg1"/>
                </a:solidFill>
              </a:rPr>
              <a:t>Human Only</a:t>
            </a:r>
            <a:endParaRPr lang="en-US" sz="1200" dirty="0"/>
          </a:p>
        </p:txBody>
      </p:sp>
      <p:sp>
        <p:nvSpPr>
          <p:cNvPr id="7" name="Text 5"/>
          <p:cNvSpPr txBox="1"/>
          <p:nvPr/>
        </p:nvSpPr>
        <p:spPr>
          <a:xfrm>
            <a:off x="2103120" y="3310128"/>
            <a:ext cx="6035040" cy="384048"/>
          </a:xfrm>
          <a:prstGeom prst="rect">
            <a:avLst/>
          </a:prstGeom>
          <a:noFill/>
          <a:ln/>
        </p:spPr>
        <p:txBody>
          <a:bodyPr wrap="square" lIns="0" tIns="0" rIns="0" bIns="0" rtlCol="0" anchor="ctr"/>
          <a:lstStyle/>
          <a:p>
            <a:pPr indent="0" marL="0">
              <a:buNone/>
            </a:pPr>
            <a:r>
              <a:rPr lang="en-US" sz="2100" dirty="0">
                <a:solidFill>
                  <a:schemeClr val="bg1"/>
                </a:solidFill>
              </a:rPr>
              <a:t>People approve orders and handle exceptions.</a:t>
            </a:r>
            <a:endParaRPr lang="en-US" sz="2100" dirty="0"/>
          </a:p>
        </p:txBody>
      </p:sp>
      <p:sp>
        <p:nvSpPr>
          <p:cNvPr id="8" name="Chip Automated"/>
          <p:cNvSpPr txBox="1"/>
          <p:nvPr/>
        </p:nvSpPr>
        <p:spPr>
          <a:xfrm>
            <a:off x="548640" y="3913632"/>
            <a:ext cx="1325880" cy="310896"/>
          </a:xfrm>
          <a:prstGeom prst="roundRect">
            <a:avLst>
              <a:gd name="adj" fmla="val 50000"/>
            </a:avLst>
          </a:prstGeom>
          <a:solidFill>
            <a:schemeClr val="accent4"/>
          </a:solidFill>
          <a:ln w="12700">
            <a:solidFill>
              <a:schemeClr val="accent4"/>
            </a:solidFill>
          </a:ln>
        </p:spPr>
        <p:txBody>
          <a:bodyPr wrap="square" lIns="0" tIns="0" rIns="0" bIns="0" rtlCol="0" anchor="ctr"/>
          <a:lstStyle/>
          <a:p>
            <a:pPr algn="ctr" indent="0" marL="0">
              <a:buNone/>
            </a:pPr>
            <a:r>
              <a:rPr lang="en-US" sz="1200" b="1" dirty="0">
                <a:solidFill>
                  <a:schemeClr val="bg1"/>
                </a:solidFill>
              </a:rPr>
              <a:t>Automated</a:t>
            </a:r>
            <a:endParaRPr lang="en-US" sz="1200" dirty="0"/>
          </a:p>
        </p:txBody>
      </p:sp>
      <p:sp>
        <p:nvSpPr>
          <p:cNvPr id="9" name="Text 7"/>
          <p:cNvSpPr txBox="1"/>
          <p:nvPr/>
        </p:nvSpPr>
        <p:spPr>
          <a:xfrm>
            <a:off x="2103120" y="3877056"/>
            <a:ext cx="6035040" cy="384048"/>
          </a:xfrm>
          <a:prstGeom prst="rect">
            <a:avLst/>
          </a:prstGeom>
          <a:noFill/>
          <a:ln/>
        </p:spPr>
        <p:txBody>
          <a:bodyPr wrap="square" lIns="0" tIns="0" rIns="0" bIns="0" rtlCol="0" anchor="ctr"/>
          <a:lstStyle/>
          <a:p>
            <a:pPr indent="0" marL="0">
              <a:buNone/>
            </a:pPr>
            <a:r>
              <a:rPr lang="en-US" sz="2100" dirty="0">
                <a:solidFill>
                  <a:schemeClr val="bg1"/>
                </a:solidFill>
              </a:rPr>
              <a:t>Routine data checks run automatically.</a:t>
            </a:r>
            <a:endParaRPr lang="en-US" sz="2100" dirty="0"/>
          </a:p>
        </p:txBody>
      </p:sp>
      <p:pic>
        <p:nvPicPr>
          <p:cNvPr id="10" name="Image 0" descr="preencoded.png">    </p:cNvPr>
          <p:cNvPicPr>
            <a:picLocks noChangeAspect="1"/>
          </p:cNvPicPr>
          <p:nvPr/>
        </p:nvPicPr>
        <p:blipFill>
          <a:blip r:embed="rId1"/>
          <a:stretch>
            <a:fillRect/>
          </a:stretch>
        </p:blipFill>
        <p:spPr>
          <a:xfrm>
            <a:off x="548640" y="4617720"/>
            <a:ext cx="237744" cy="237744"/>
          </a:xfrm>
          <a:prstGeom prst="rect">
            <a:avLst/>
          </a:prstGeom>
        </p:spPr>
      </p:pic>
      <p:sp>
        <p:nvSpPr>
          <p:cNvPr id="11" name="Text 8"/>
          <p:cNvSpPr txBox="1"/>
          <p:nvPr/>
        </p:nvSpPr>
        <p:spPr>
          <a:xfrm>
            <a:off x="932688" y="4572000"/>
            <a:ext cx="7132320" cy="329184"/>
          </a:xfrm>
          <a:prstGeom prst="rect">
            <a:avLst/>
          </a:prstGeom>
          <a:noFill/>
          <a:ln/>
        </p:spPr>
        <p:txBody>
          <a:bodyPr wrap="square" lIns="0" tIns="0" rIns="0" bIns="0" rtlCol="0" anchor="ctr"/>
          <a:lstStyle/>
          <a:p>
            <a:pPr indent="0" marL="0">
              <a:buNone/>
            </a:pPr>
            <a:r>
              <a:rPr lang="en-US" sz="1500" b="1" dirty="0">
                <a:solidFill>
                  <a:schemeClr val="bg2"/>
                </a:solidFill>
              </a:rPr>
              <a:t>Week 3 condition: </a:t>
            </a:r>
            <a:pPr indent="0" marL="0">
              <a:buNone/>
            </a:pPr>
            <a:r>
              <a:rPr lang="en-US" sz="1500" dirty="0">
                <a:solidFill>
                  <a:schemeClr val="bg2"/>
                </a:solidFill>
              </a:rPr>
              <a:t>stock records must match actual availability before the trial.</a:t>
            </a:r>
            <a:endParaRPr lang="en-US" sz="1500" dirty="0"/>
          </a:p>
        </p:txBody>
      </p:sp>
      <p:sp>
        <p:nvSpPr>
          <p:cNvPr id="12" name="Text 9"/>
          <p:cNvSpPr txBox="1"/>
          <p:nvPr/>
        </p:nvSpPr>
        <p:spPr>
          <a:xfrm>
            <a:off x="8549640" y="960120"/>
            <a:ext cx="3108960" cy="274320"/>
          </a:xfrm>
          <a:prstGeom prst="rect">
            <a:avLst/>
          </a:prstGeom>
          <a:noFill/>
          <a:ln/>
        </p:spPr>
        <p:txBody>
          <a:bodyPr wrap="square" lIns="0" tIns="0" rIns="0" bIns="0" rtlCol="0" anchor="t"/>
          <a:lstStyle/>
          <a:p>
            <a:pPr indent="0" marL="0">
              <a:buNone/>
            </a:pPr>
            <a:r>
              <a:rPr lang="en-US" sz="1100" b="1" spc="150" kern="0" dirty="0">
                <a:solidFill>
                  <a:srgbClr val="A9C0C3"/>
                </a:solidFill>
              </a:rPr>
              <a:t>FOUR ALLOCATION CATEGORIES</a:t>
            </a:r>
            <a:endParaRPr lang="en-US" sz="1100" dirty="0"/>
          </a:p>
        </p:txBody>
      </p:sp>
      <p:sp>
        <p:nvSpPr>
          <p:cNvPr id="13" name="Legend Human Only"/>
          <p:cNvSpPr txBox="1"/>
          <p:nvPr/>
        </p:nvSpPr>
        <p:spPr>
          <a:xfrm>
            <a:off x="8549640" y="1325880"/>
            <a:ext cx="3090672" cy="658368"/>
          </a:xfrm>
          <a:prstGeom prst="roundRect">
            <a:avLst>
              <a:gd name="adj" fmla="val 11111"/>
            </a:avLst>
          </a:prstGeom>
          <a:solidFill>
            <a:schemeClr val="accent1"/>
          </a:solidFill>
          <a:ln>
            <a:solidFill>
              <a:schemeClr val="accent1"/>
            </a:solidFill>
          </a:ln>
        </p:spPr>
        <p:txBody>
          <a:bodyPr wrap="square" lIns="177800" tIns="0" rIns="177800" bIns="0" rtlCol="0" anchor="ctr"/>
          <a:lstStyle/>
          <a:p>
            <a:pPr algn="l" indent="0" marL="0">
              <a:buNone/>
            </a:pPr>
            <a:r>
              <a:rPr lang="en-US" sz="1500" b="1" dirty="0">
                <a:solidFill>
                  <a:schemeClr val="bg1"/>
                </a:solidFill>
              </a:rPr>
              <a:t>Human Only</a:t>
            </a:r>
            <a:endParaRPr lang="en-US" sz="1500" dirty="0"/>
          </a:p>
        </p:txBody>
      </p:sp>
      <p:sp>
        <p:nvSpPr>
          <p:cNvPr id="14" name="Legend Human + AI"/>
          <p:cNvSpPr txBox="1"/>
          <p:nvPr/>
        </p:nvSpPr>
        <p:spPr>
          <a:xfrm>
            <a:off x="8549640" y="2112264"/>
            <a:ext cx="3090672" cy="658368"/>
          </a:xfrm>
          <a:prstGeom prst="roundRect">
            <a:avLst>
              <a:gd name="adj" fmla="val 11111"/>
            </a:avLst>
          </a:prstGeom>
          <a:solidFill>
            <a:schemeClr val="accent2"/>
          </a:solidFill>
          <a:ln>
            <a:solidFill>
              <a:schemeClr val="accent2"/>
            </a:solidFill>
          </a:ln>
        </p:spPr>
        <p:txBody>
          <a:bodyPr wrap="square" lIns="177800" tIns="0" rIns="177800" bIns="0" rtlCol="0" anchor="ctr"/>
          <a:lstStyle/>
          <a:p>
            <a:pPr algn="l" indent="0" marL="0">
              <a:buNone/>
            </a:pPr>
            <a:r>
              <a:rPr lang="en-US" sz="1500" b="1" dirty="0">
                <a:solidFill>
                  <a:schemeClr val="bg1"/>
                </a:solidFill>
              </a:rPr>
              <a:t>Human + AI</a:t>
            </a:r>
            <a:endParaRPr lang="en-US" sz="1500" dirty="0"/>
          </a:p>
        </p:txBody>
      </p:sp>
      <p:sp>
        <p:nvSpPr>
          <p:cNvPr id="15" name="Legend AI Executes with Human Review"/>
          <p:cNvSpPr txBox="1"/>
          <p:nvPr/>
        </p:nvSpPr>
        <p:spPr>
          <a:xfrm>
            <a:off x="8549640" y="2898648"/>
            <a:ext cx="3090672" cy="658368"/>
          </a:xfrm>
          <a:prstGeom prst="roundRect">
            <a:avLst>
              <a:gd name="adj" fmla="val 11111"/>
            </a:avLst>
          </a:prstGeom>
          <a:solidFill>
            <a:schemeClr val="accent3"/>
          </a:solidFill>
          <a:ln>
            <a:solidFill>
              <a:schemeClr val="accent3"/>
            </a:solidFill>
          </a:ln>
        </p:spPr>
        <p:txBody>
          <a:bodyPr wrap="square" lIns="177800" tIns="0" rIns="177800" bIns="0" rtlCol="0" anchor="ctr"/>
          <a:lstStyle/>
          <a:p>
            <a:pPr algn="l" indent="0" marL="0">
              <a:buNone/>
            </a:pPr>
            <a:r>
              <a:rPr lang="en-US" sz="1500" b="1" dirty="0">
                <a:solidFill>
                  <a:schemeClr val="bg1"/>
                </a:solidFill>
              </a:rPr>
              <a:t>AI Executes with Human Review</a:t>
            </a:r>
            <a:endParaRPr lang="en-US" sz="1500" dirty="0"/>
          </a:p>
        </p:txBody>
      </p:sp>
      <p:sp>
        <p:nvSpPr>
          <p:cNvPr id="16" name="Legend Automated"/>
          <p:cNvSpPr txBox="1"/>
          <p:nvPr/>
        </p:nvSpPr>
        <p:spPr>
          <a:xfrm>
            <a:off x="8549640" y="3685032"/>
            <a:ext cx="3090672" cy="658368"/>
          </a:xfrm>
          <a:prstGeom prst="roundRect">
            <a:avLst>
              <a:gd name="adj" fmla="val 11111"/>
            </a:avLst>
          </a:prstGeom>
          <a:solidFill>
            <a:schemeClr val="accent4"/>
          </a:solidFill>
          <a:ln>
            <a:solidFill>
              <a:schemeClr val="accent4"/>
            </a:solidFill>
          </a:ln>
        </p:spPr>
        <p:txBody>
          <a:bodyPr wrap="square" lIns="177800" tIns="0" rIns="177800" bIns="0" rtlCol="0" anchor="ctr"/>
          <a:lstStyle/>
          <a:p>
            <a:pPr algn="l" indent="0" marL="0">
              <a:buNone/>
            </a:pPr>
            <a:r>
              <a:rPr lang="en-US" sz="1500" b="1" dirty="0">
                <a:solidFill>
                  <a:schemeClr val="bg1"/>
                </a:solidFill>
              </a:rPr>
              <a:t>Automated</a:t>
            </a:r>
            <a:endParaRPr lang="en-US" sz="1500" dirty="0"/>
          </a:p>
        </p:txBody>
      </p:sp>
      <p:sp>
        <p:nvSpPr>
          <p:cNvPr id="17" name="Text 14"/>
          <p:cNvSpPr txBox="1"/>
          <p:nvPr/>
        </p:nvSpPr>
        <p:spPr>
          <a:xfrm>
            <a:off x="548640" y="5669280"/>
            <a:ext cx="3657600" cy="320040"/>
          </a:xfrm>
          <a:prstGeom prst="rect">
            <a:avLst/>
          </a:prstGeom>
          <a:noFill/>
          <a:ln/>
        </p:spPr>
        <p:txBody>
          <a:bodyPr wrap="square" lIns="0" tIns="0" rIns="0" bIns="0" rtlCol="0" anchor="t"/>
          <a:lstStyle/>
          <a:p>
            <a:pPr indent="0" marL="0">
              <a:buNone/>
            </a:pPr>
            <a:r>
              <a:rPr lang="en-US" sz="1700" b="1" dirty="0">
                <a:solidFill>
                  <a:schemeClr val="bg1"/>
                </a:solidFill>
              </a:rPr>
              <a:t>Kniazev Daniil</a:t>
            </a:r>
            <a:endParaRPr lang="en-US" sz="1700" dirty="0"/>
          </a:p>
        </p:txBody>
      </p:sp>
      <p:sp>
        <p:nvSpPr>
          <p:cNvPr id="18" name="Text 15"/>
          <p:cNvSpPr txBox="1"/>
          <p:nvPr/>
        </p:nvSpPr>
        <p:spPr>
          <a:xfrm>
            <a:off x="548640" y="6016752"/>
            <a:ext cx="3657600" cy="292608"/>
          </a:xfrm>
          <a:prstGeom prst="rect">
            <a:avLst/>
          </a:prstGeom>
          <a:noFill/>
          <a:ln/>
        </p:spPr>
        <p:txBody>
          <a:bodyPr wrap="square" lIns="0" tIns="0" rIns="0" bIns="0" rtlCol="0" anchor="t"/>
          <a:lstStyle/>
          <a:p>
            <a:pPr indent="0" marL="0">
              <a:buNone/>
            </a:pPr>
            <a:r>
              <a:rPr lang="en-US" sz="1400" dirty="0">
                <a:solidFill>
                  <a:srgbClr val="A9C0C3"/>
                </a:solidFill>
              </a:rPr>
              <a:t>AIB-2602</a:t>
            </a:r>
            <a:endParaRPr lang="en-US" sz="1400" dirty="0"/>
          </a:p>
        </p:txBody>
      </p:sp>
      <p:sp>
        <p:nvSpPr>
          <p:cNvPr id="19" name="Text 16"/>
          <p:cNvSpPr txBox="1"/>
          <p:nvPr/>
        </p:nvSpPr>
        <p:spPr>
          <a:xfrm>
            <a:off x="6583680" y="5669280"/>
            <a:ext cx="5029200" cy="320040"/>
          </a:xfrm>
          <a:prstGeom prst="rect">
            <a:avLst/>
          </a:prstGeom>
          <a:noFill/>
          <a:ln/>
        </p:spPr>
        <p:txBody>
          <a:bodyPr wrap="square" lIns="0" tIns="0" rIns="0" bIns="0" rtlCol="0" anchor="t"/>
          <a:lstStyle/>
          <a:p>
            <a:pPr indent="0" marL="0">
              <a:buNone/>
            </a:pPr>
            <a:r>
              <a:rPr lang="en-US" sz="1600" dirty="0">
                <a:solidFill>
                  <a:srgbClr val="A9C0C3"/>
                </a:solidFill>
              </a:rPr>
              <a:t>Company A: </a:t>
            </a:r>
            <a:pPr indent="0" marL="0">
              <a:buNone/>
            </a:pPr>
            <a:r>
              <a:rPr lang="en-US" sz="1600" b="1" dirty="0">
                <a:solidFill>
                  <a:schemeClr val="bg1"/>
                </a:solidFill>
              </a:rPr>
              <a:t>Carrefour</a:t>
            </a:r>
            <a:endParaRPr lang="en-US" sz="1600" dirty="0"/>
          </a:p>
        </p:txBody>
      </p:sp>
      <p:sp>
        <p:nvSpPr>
          <p:cNvPr id="20" name="Text 17"/>
          <p:cNvSpPr txBox="1"/>
          <p:nvPr/>
        </p:nvSpPr>
        <p:spPr>
          <a:xfrm>
            <a:off x="6583680" y="6016752"/>
            <a:ext cx="5029200" cy="320040"/>
          </a:xfrm>
          <a:prstGeom prst="rect">
            <a:avLst/>
          </a:prstGeom>
          <a:noFill/>
          <a:ln/>
        </p:spPr>
        <p:txBody>
          <a:bodyPr wrap="square" lIns="0" tIns="0" rIns="0" bIns="0" rtlCol="0" anchor="t"/>
          <a:lstStyle/>
          <a:p>
            <a:pPr indent="0" marL="0">
              <a:buNone/>
            </a:pPr>
            <a:r>
              <a:rPr lang="en-US" sz="1600" dirty="0">
                <a:solidFill>
                  <a:srgbClr val="A9C0C3"/>
                </a:solidFill>
              </a:rPr>
              <a:t>Company B: </a:t>
            </a:r>
            <a:pPr indent="0" marL="0">
              <a:buNone/>
            </a:pPr>
            <a:r>
              <a:rPr lang="en-US" sz="1600" b="1" dirty="0">
                <a:solidFill>
                  <a:schemeClr val="bg1"/>
                </a:solidFill>
              </a:rPr>
              <a:t>Magnum Cash&amp;Carry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Store replenishment process</a:t>
            </a:r>
            <a:endParaRPr lang="en-US" sz="3400" dirty="0"/>
          </a:p>
        </p:txBody>
      </p:sp>
      <p:sp>
        <p:nvSpPr>
          <p:cNvPr id="3" name="Text 1"/>
          <p:cNvSpPr txBox="1"/>
          <p:nvPr/>
        </p:nvSpPr>
        <p:spPr>
          <a:xfrm>
            <a:off x="548640" y="1261872"/>
            <a:ext cx="3657600" cy="310896"/>
          </a:xfrm>
          <a:prstGeom prst="rect">
            <a:avLst/>
          </a:prstGeom>
          <a:noFill/>
          <a:ln/>
        </p:spPr>
        <p:txBody>
          <a:bodyPr wrap="square" lIns="0" tIns="0" rIns="0" bIns="0" rtlCol="0" anchor="t"/>
          <a:lstStyle/>
          <a:p>
            <a:pPr indent="0" marL="0">
              <a:buNone/>
            </a:pPr>
            <a:r>
              <a:rPr lang="en-US" sz="1700" b="1" dirty="0">
                <a:solidFill>
                  <a:schemeClr val="tx2"/>
                </a:solidFill>
              </a:rPr>
              <a:t>Current process</a:t>
            </a:r>
            <a:endParaRPr lang="en-US" sz="1700" dirty="0"/>
          </a:p>
        </p:txBody>
      </p:sp>
      <p:sp>
        <p:nvSpPr>
          <p:cNvPr id="4" name="Text 2"/>
          <p:cNvSpPr txBox="1"/>
          <p:nvPr/>
        </p:nvSpPr>
        <p:spPr>
          <a:xfrm>
            <a:off x="7982712" y="1280160"/>
            <a:ext cx="3657600" cy="292608"/>
          </a:xfrm>
          <a:prstGeom prst="rect">
            <a:avLst/>
          </a:prstGeom>
          <a:noFill/>
          <a:ln/>
        </p:spPr>
        <p:txBody>
          <a:bodyPr wrap="square" lIns="0" tIns="0" rIns="0" bIns="0" rtlCol="0" anchor="t"/>
          <a:lstStyle/>
          <a:p>
            <a:pPr algn="r" indent="0" marL="0">
              <a:buNone/>
            </a:pPr>
            <a:r>
              <a:rPr lang="en-US" sz="1300" i="1" dirty="0">
                <a:solidFill>
                  <a:schemeClr val="accent6"/>
                </a:solidFill>
              </a:rPr>
              <a:t>Baseline to confirm with staff</a:t>
            </a:r>
            <a:endParaRPr lang="en-US" sz="1300" dirty="0"/>
          </a:p>
        </p:txBody>
      </p:sp>
      <p:sp>
        <p:nvSpPr>
          <p:cNvPr id="5" name="Current step 1"/>
          <p:cNvSpPr txBox="1"/>
          <p:nvPr/>
        </p:nvSpPr>
        <p:spPr>
          <a:xfrm>
            <a:off x="548640" y="1691640"/>
            <a:ext cx="1962851" cy="777240"/>
          </a:xfrm>
          <a:prstGeom prst="roundRect">
            <a:avLst>
              <a:gd name="adj" fmla="val 7059"/>
            </a:avLst>
          </a:prstGeom>
          <a:solidFill>
            <a:schemeClr val="bg2"/>
          </a:solidFill>
          <a:ln w="9525">
            <a:solidFill>
              <a:srgbClr val="D3DCDE"/>
            </a:solidFill>
          </a:ln>
        </p:spPr>
        <p:txBody>
          <a:bodyPr wrap="square" lIns="50800" tIns="50800" rIns="50800" bIns="50800" rtlCol="0" anchor="ctr"/>
          <a:lstStyle/>
          <a:p>
            <a:pPr algn="ctr" indent="0" marL="0">
              <a:buNone/>
            </a:pPr>
            <a:r>
              <a:rPr lang="en-US" sz="1500" dirty="0">
                <a:solidFill>
                  <a:schemeClr val="tx1"/>
                </a:solidFill>
              </a:rPr>
              <a:t>Check sales</a:t>
            </a:r>
            <a:endParaRPr lang="en-US" sz="1500" dirty="0"/>
          </a:p>
          <a:p>
            <a:pPr algn="ctr" indent="0" marL="0">
              <a:buNone/>
            </a:pPr>
            <a:r>
              <a:rPr lang="en-US" sz="1500" dirty="0">
                <a:solidFill>
                  <a:schemeClr val="tx1"/>
                </a:solidFill>
              </a:rPr>
              <a:t>and stock</a:t>
            </a:r>
            <a:endParaRPr lang="en-US" sz="1500" dirty="0"/>
          </a:p>
        </p:txBody>
      </p:sp>
      <p:sp>
        <p:nvSpPr>
          <p:cNvPr id="6" name="Shape 4"/>
          <p:cNvSpPr/>
          <p:nvPr/>
        </p:nvSpPr>
        <p:spPr>
          <a:xfrm>
            <a:off x="2593787" y="2080260"/>
            <a:ext cx="155448" cy="0"/>
          </a:xfrm>
          <a:prstGeom prst="line">
            <a:avLst/>
          </a:prstGeom>
          <a:noFill/>
          <a:ln w="19050">
            <a:solidFill>
              <a:schemeClr val="accent6"/>
            </a:solidFill>
            <a:prstDash val="solid"/>
            <a:tailEnd type="triangle"/>
          </a:ln>
        </p:spPr>
      </p:sp>
      <p:sp>
        <p:nvSpPr>
          <p:cNvPr id="7" name="Current step 2"/>
          <p:cNvSpPr txBox="1"/>
          <p:nvPr/>
        </p:nvSpPr>
        <p:spPr>
          <a:xfrm>
            <a:off x="2831531" y="1691640"/>
            <a:ext cx="1962851" cy="777240"/>
          </a:xfrm>
          <a:prstGeom prst="roundRect">
            <a:avLst>
              <a:gd name="adj" fmla="val 7059"/>
            </a:avLst>
          </a:prstGeom>
          <a:solidFill>
            <a:schemeClr val="bg2"/>
          </a:solidFill>
          <a:ln w="9525">
            <a:solidFill>
              <a:srgbClr val="D3DCDE"/>
            </a:solidFill>
          </a:ln>
        </p:spPr>
        <p:txBody>
          <a:bodyPr wrap="square" lIns="50800" tIns="50800" rIns="50800" bIns="50800" rtlCol="0" anchor="ctr"/>
          <a:lstStyle/>
          <a:p>
            <a:pPr algn="ctr" indent="0" marL="0">
              <a:buNone/>
            </a:pPr>
            <a:r>
              <a:rPr lang="en-US" sz="1500" dirty="0">
                <a:solidFill>
                  <a:schemeClr val="tx1"/>
                </a:solidFill>
              </a:rPr>
              <a:t>Estimate demand</a:t>
            </a:r>
            <a:endParaRPr lang="en-US" sz="1500" dirty="0"/>
          </a:p>
          <a:p>
            <a:pPr algn="ctr" indent="0" marL="0">
              <a:buNone/>
            </a:pPr>
            <a:r>
              <a:rPr lang="en-US" sz="1500" dirty="0">
                <a:solidFill>
                  <a:schemeClr val="tx1"/>
                </a:solidFill>
              </a:rPr>
              <a:t>and quantity</a:t>
            </a:r>
            <a:endParaRPr lang="en-US" sz="1500" dirty="0"/>
          </a:p>
        </p:txBody>
      </p:sp>
      <p:sp>
        <p:nvSpPr>
          <p:cNvPr id="8" name="Shape 6"/>
          <p:cNvSpPr/>
          <p:nvPr/>
        </p:nvSpPr>
        <p:spPr>
          <a:xfrm>
            <a:off x="4876678" y="2080260"/>
            <a:ext cx="155448" cy="0"/>
          </a:xfrm>
          <a:prstGeom prst="line">
            <a:avLst/>
          </a:prstGeom>
          <a:noFill/>
          <a:ln w="19050">
            <a:solidFill>
              <a:schemeClr val="accent6"/>
            </a:solidFill>
            <a:prstDash val="solid"/>
            <a:tailEnd type="triangle"/>
          </a:ln>
        </p:spPr>
      </p:sp>
      <p:sp>
        <p:nvSpPr>
          <p:cNvPr id="9" name="Current step 3"/>
          <p:cNvSpPr txBox="1"/>
          <p:nvPr/>
        </p:nvSpPr>
        <p:spPr>
          <a:xfrm>
            <a:off x="5114422" y="1691640"/>
            <a:ext cx="1962851" cy="777240"/>
          </a:xfrm>
          <a:prstGeom prst="roundRect">
            <a:avLst>
              <a:gd name="adj" fmla="val 7059"/>
            </a:avLst>
          </a:prstGeom>
          <a:solidFill>
            <a:schemeClr val="bg2"/>
          </a:solidFill>
          <a:ln w="9525">
            <a:solidFill>
              <a:srgbClr val="D3DCDE"/>
            </a:solidFill>
          </a:ln>
        </p:spPr>
        <p:txBody>
          <a:bodyPr wrap="square" lIns="50800" tIns="50800" rIns="50800" bIns="50800" rtlCol="0" anchor="ctr"/>
          <a:lstStyle/>
          <a:p>
            <a:pPr algn="ctr" indent="0" marL="0">
              <a:buNone/>
            </a:pPr>
            <a:r>
              <a:rPr lang="en-US" sz="1500" dirty="0">
                <a:solidFill>
                  <a:schemeClr val="tx1"/>
                </a:solidFill>
              </a:rPr>
              <a:t>Approve</a:t>
            </a:r>
            <a:endParaRPr lang="en-US" sz="1500" dirty="0"/>
          </a:p>
          <a:p>
            <a:pPr algn="ctr" indent="0" marL="0">
              <a:buNone/>
            </a:pPr>
            <a:r>
              <a:rPr lang="en-US" sz="1500" dirty="0">
                <a:solidFill>
                  <a:schemeClr val="tx1"/>
                </a:solidFill>
              </a:rPr>
              <a:t>order</a:t>
            </a:r>
            <a:endParaRPr lang="en-US" sz="1500" dirty="0"/>
          </a:p>
        </p:txBody>
      </p:sp>
      <p:sp>
        <p:nvSpPr>
          <p:cNvPr id="10" name="Shape 8"/>
          <p:cNvSpPr/>
          <p:nvPr/>
        </p:nvSpPr>
        <p:spPr>
          <a:xfrm>
            <a:off x="7159569" y="2080260"/>
            <a:ext cx="155448" cy="0"/>
          </a:xfrm>
          <a:prstGeom prst="line">
            <a:avLst/>
          </a:prstGeom>
          <a:noFill/>
          <a:ln w="19050">
            <a:solidFill>
              <a:schemeClr val="accent6"/>
            </a:solidFill>
            <a:prstDash val="solid"/>
            <a:tailEnd type="triangle"/>
          </a:ln>
        </p:spPr>
      </p:sp>
      <p:sp>
        <p:nvSpPr>
          <p:cNvPr id="11" name="Current step 4"/>
          <p:cNvSpPr txBox="1"/>
          <p:nvPr/>
        </p:nvSpPr>
        <p:spPr>
          <a:xfrm>
            <a:off x="7397313" y="1691640"/>
            <a:ext cx="1962851" cy="777240"/>
          </a:xfrm>
          <a:prstGeom prst="roundRect">
            <a:avLst>
              <a:gd name="adj" fmla="val 7059"/>
            </a:avLst>
          </a:prstGeom>
          <a:solidFill>
            <a:schemeClr val="bg2"/>
          </a:solidFill>
          <a:ln w="9525">
            <a:solidFill>
              <a:srgbClr val="D3DCDE"/>
            </a:solidFill>
          </a:ln>
        </p:spPr>
        <p:txBody>
          <a:bodyPr wrap="square" lIns="50800" tIns="50800" rIns="50800" bIns="50800" rtlCol="0" anchor="ctr"/>
          <a:lstStyle/>
          <a:p>
            <a:pPr algn="ctr" indent="0" marL="0">
              <a:buNone/>
            </a:pPr>
            <a:r>
              <a:rPr lang="en-US" sz="1500" dirty="0">
                <a:solidFill>
                  <a:schemeClr val="tx1"/>
                </a:solidFill>
              </a:rPr>
              <a:t>Send order and</a:t>
            </a:r>
            <a:endParaRPr lang="en-US" sz="1500" dirty="0"/>
          </a:p>
          <a:p>
            <a:pPr algn="ctr" indent="0" marL="0">
              <a:buNone/>
            </a:pPr>
            <a:r>
              <a:rPr lang="en-US" sz="1500" dirty="0">
                <a:solidFill>
                  <a:schemeClr val="tx1"/>
                </a:solidFill>
              </a:rPr>
              <a:t>receive goods</a:t>
            </a:r>
            <a:endParaRPr lang="en-US" sz="1500" dirty="0"/>
          </a:p>
        </p:txBody>
      </p:sp>
      <p:sp>
        <p:nvSpPr>
          <p:cNvPr id="12" name="Shape 10"/>
          <p:cNvSpPr/>
          <p:nvPr/>
        </p:nvSpPr>
        <p:spPr>
          <a:xfrm>
            <a:off x="9442460" y="2080260"/>
            <a:ext cx="155448" cy="0"/>
          </a:xfrm>
          <a:prstGeom prst="line">
            <a:avLst/>
          </a:prstGeom>
          <a:noFill/>
          <a:ln w="19050">
            <a:solidFill>
              <a:schemeClr val="accent6"/>
            </a:solidFill>
            <a:prstDash val="solid"/>
            <a:tailEnd type="triangle"/>
          </a:ln>
        </p:spPr>
      </p:sp>
      <p:sp>
        <p:nvSpPr>
          <p:cNvPr id="13" name="Current step 5"/>
          <p:cNvSpPr txBox="1"/>
          <p:nvPr/>
        </p:nvSpPr>
        <p:spPr>
          <a:xfrm>
            <a:off x="9680204" y="1691640"/>
            <a:ext cx="1962851" cy="777240"/>
          </a:xfrm>
          <a:prstGeom prst="roundRect">
            <a:avLst>
              <a:gd name="adj" fmla="val 7059"/>
            </a:avLst>
          </a:prstGeom>
          <a:solidFill>
            <a:schemeClr val="bg2"/>
          </a:solidFill>
          <a:ln w="9525">
            <a:solidFill>
              <a:srgbClr val="D3DCDE"/>
            </a:solidFill>
          </a:ln>
        </p:spPr>
        <p:txBody>
          <a:bodyPr wrap="square" lIns="50800" tIns="50800" rIns="50800" bIns="50800" rtlCol="0" anchor="ctr"/>
          <a:lstStyle/>
          <a:p>
            <a:pPr algn="ctr" indent="0" marL="0">
              <a:buNone/>
            </a:pPr>
            <a:r>
              <a:rPr lang="en-US" sz="1500" dirty="0">
                <a:solidFill>
                  <a:schemeClr val="tx1"/>
                </a:solidFill>
              </a:rPr>
              <a:t>Check shelves and</a:t>
            </a:r>
            <a:endParaRPr lang="en-US" sz="1500" dirty="0"/>
          </a:p>
          <a:p>
            <a:pPr algn="ctr" indent="0" marL="0">
              <a:buNone/>
            </a:pPr>
            <a:r>
              <a:rPr lang="en-US" sz="1500" dirty="0">
                <a:solidFill>
                  <a:schemeClr val="tx1"/>
                </a:solidFill>
              </a:rPr>
              <a:t>record results</a:t>
            </a:r>
            <a:endParaRPr lang="en-US" sz="1500" dirty="0"/>
          </a:p>
        </p:txBody>
      </p:sp>
      <p:sp>
        <p:nvSpPr>
          <p:cNvPr id="14" name="Bottleneck frame"/>
          <p:cNvSpPr/>
          <p:nvPr/>
        </p:nvSpPr>
        <p:spPr>
          <a:xfrm>
            <a:off x="502920" y="1627632"/>
            <a:ext cx="4337182" cy="905256"/>
          </a:xfrm>
          <a:prstGeom prst="roundRect">
            <a:avLst>
              <a:gd name="adj" fmla="val 10101"/>
            </a:avLst>
          </a:prstGeom>
          <a:solidFill>
            <a:schemeClr val="bg1">
              <a:alpha val="0"/>
            </a:schemeClr>
          </a:solidFill>
          <a:ln w="22225">
            <a:solidFill>
              <a:schemeClr val="accent5"/>
            </a:solidFill>
            <a:prstDash val="dash"/>
          </a:ln>
        </p:spPr>
      </p:sp>
      <p:pic>
        <p:nvPicPr>
          <p:cNvPr id="15" name="Image 0" descr="preencoded.png">    </p:cNvPr>
          <p:cNvPicPr>
            <a:picLocks noChangeAspect="1"/>
          </p:cNvPicPr>
          <p:nvPr/>
        </p:nvPicPr>
        <p:blipFill>
          <a:blip r:embed="rId1"/>
          <a:stretch>
            <a:fillRect/>
          </a:stretch>
        </p:blipFill>
        <p:spPr>
          <a:xfrm>
            <a:off x="548640" y="2679192"/>
            <a:ext cx="219456" cy="219456"/>
          </a:xfrm>
          <a:prstGeom prst="rect">
            <a:avLst/>
          </a:prstGeom>
        </p:spPr>
      </p:pic>
      <p:sp>
        <p:nvSpPr>
          <p:cNvPr id="16" name="Text 13"/>
          <p:cNvSpPr txBox="1"/>
          <p:nvPr/>
        </p:nvSpPr>
        <p:spPr>
          <a:xfrm>
            <a:off x="877824" y="2633472"/>
            <a:ext cx="10515600" cy="310896"/>
          </a:xfrm>
          <a:prstGeom prst="rect">
            <a:avLst/>
          </a:prstGeom>
          <a:noFill/>
          <a:ln/>
        </p:spPr>
        <p:txBody>
          <a:bodyPr wrap="square" lIns="0" tIns="0" rIns="0" bIns="0" rtlCol="0" anchor="ctr"/>
          <a:lstStyle/>
          <a:p>
            <a:pPr indent="0" marL="0">
              <a:buNone/>
            </a:pPr>
            <a:r>
              <a:rPr lang="en-US" sz="1500" b="1" dirty="0">
                <a:solidFill>
                  <a:schemeClr val="accent5"/>
                </a:solidFill>
              </a:rPr>
              <a:t>Suspected bottleneck: </a:t>
            </a:r>
            <a:pPr indent="0" marL="0">
              <a:buNone/>
            </a:pPr>
            <a:r>
              <a:rPr lang="en-US" sz="1500" dirty="0">
                <a:solidFill>
                  <a:schemeClr val="tx1"/>
                </a:solidFill>
              </a:rPr>
              <a:t>reconciling stock records and promotion information before ordering.</a:t>
            </a:r>
            <a:endParaRPr lang="en-US" sz="1500" dirty="0"/>
          </a:p>
        </p:txBody>
      </p:sp>
      <p:sp>
        <p:nvSpPr>
          <p:cNvPr id="17" name="Text 14"/>
          <p:cNvSpPr txBox="1"/>
          <p:nvPr/>
        </p:nvSpPr>
        <p:spPr>
          <a:xfrm>
            <a:off x="548640" y="3072384"/>
            <a:ext cx="3657600" cy="310896"/>
          </a:xfrm>
          <a:prstGeom prst="rect">
            <a:avLst/>
          </a:prstGeom>
          <a:noFill/>
          <a:ln/>
        </p:spPr>
        <p:txBody>
          <a:bodyPr wrap="square" lIns="0" tIns="0" rIns="0" bIns="0" rtlCol="0" anchor="t"/>
          <a:lstStyle/>
          <a:p>
            <a:pPr indent="0" marL="0">
              <a:buNone/>
            </a:pPr>
            <a:r>
              <a:rPr lang="en-US" sz="1700" b="1" dirty="0">
                <a:solidFill>
                  <a:schemeClr val="tx2"/>
                </a:solidFill>
              </a:rPr>
              <a:t>Proposed process</a:t>
            </a:r>
            <a:endParaRPr lang="en-US" sz="1700" dirty="0"/>
          </a:p>
        </p:txBody>
      </p:sp>
      <p:sp>
        <p:nvSpPr>
          <p:cNvPr id="18" name="Text 15"/>
          <p:cNvSpPr txBox="1"/>
          <p:nvPr/>
        </p:nvSpPr>
        <p:spPr>
          <a:xfrm>
            <a:off x="5114422" y="3154680"/>
            <a:ext cx="1962851" cy="274320"/>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HUMAN REVIEW POINT</a:t>
            </a:r>
            <a:endParaRPr lang="en-US" sz="1100" dirty="0"/>
          </a:p>
        </p:txBody>
      </p:sp>
      <p:sp>
        <p:nvSpPr>
          <p:cNvPr id="19" name="Proposed step 1"/>
          <p:cNvSpPr txBox="1"/>
          <p:nvPr/>
        </p:nvSpPr>
        <p:spPr>
          <a:xfrm>
            <a:off x="548640" y="3493008"/>
            <a:ext cx="1962851" cy="777240"/>
          </a:xfrm>
          <a:prstGeom prst="roundRect">
            <a:avLst>
              <a:gd name="adj" fmla="val 7059"/>
            </a:avLst>
          </a:prstGeom>
          <a:solidFill>
            <a:schemeClr val="bg1"/>
          </a:solidFill>
          <a:ln w="12700">
            <a:solidFill>
              <a:srgbClr val="AEBBBE"/>
            </a:solidFill>
          </a:ln>
        </p:spPr>
        <p:txBody>
          <a:bodyPr wrap="square" lIns="50800" tIns="50800" rIns="50800" bIns="50800" rtlCol="0" anchor="ctr"/>
          <a:lstStyle/>
          <a:p>
            <a:pPr algn="ctr" indent="0" marL="0">
              <a:buNone/>
            </a:pPr>
            <a:r>
              <a:rPr lang="en-US" sz="1500" dirty="0">
                <a:solidFill>
                  <a:schemeClr val="tx1"/>
                </a:solidFill>
              </a:rPr>
              <a:t>Validate sales</a:t>
            </a:r>
            <a:endParaRPr lang="en-US" sz="1500" dirty="0"/>
          </a:p>
          <a:p>
            <a:pPr algn="ctr" indent="0" marL="0">
              <a:buNone/>
            </a:pPr>
            <a:r>
              <a:rPr lang="en-US" sz="1500" dirty="0">
                <a:solidFill>
                  <a:schemeClr val="tx1"/>
                </a:solidFill>
              </a:rPr>
              <a:t>and stock inputs</a:t>
            </a:r>
            <a:endParaRPr lang="en-US" sz="1500" dirty="0"/>
          </a:p>
        </p:txBody>
      </p:sp>
      <p:sp>
        <p:nvSpPr>
          <p:cNvPr id="20" name="Shape 17"/>
          <p:cNvSpPr/>
          <p:nvPr/>
        </p:nvSpPr>
        <p:spPr>
          <a:xfrm>
            <a:off x="2593787" y="3881628"/>
            <a:ext cx="155448" cy="0"/>
          </a:xfrm>
          <a:prstGeom prst="line">
            <a:avLst/>
          </a:prstGeom>
          <a:noFill/>
          <a:ln w="19050">
            <a:solidFill>
              <a:schemeClr val="accent6"/>
            </a:solidFill>
            <a:prstDash val="solid"/>
            <a:tailEnd type="triangle"/>
          </a:ln>
        </p:spPr>
      </p:sp>
      <p:sp>
        <p:nvSpPr>
          <p:cNvPr id="21" name="Proposed step 2"/>
          <p:cNvSpPr txBox="1"/>
          <p:nvPr/>
        </p:nvSpPr>
        <p:spPr>
          <a:xfrm>
            <a:off x="2831531" y="3493008"/>
            <a:ext cx="1962851" cy="777240"/>
          </a:xfrm>
          <a:prstGeom prst="roundRect">
            <a:avLst>
              <a:gd name="adj" fmla="val 7059"/>
            </a:avLst>
          </a:prstGeom>
          <a:solidFill>
            <a:schemeClr val="bg1"/>
          </a:solidFill>
          <a:ln w="12700">
            <a:solidFill>
              <a:srgbClr val="AEBBBE"/>
            </a:solidFill>
          </a:ln>
        </p:spPr>
        <p:txBody>
          <a:bodyPr wrap="square" lIns="50800" tIns="50800" rIns="50800" bIns="50800" rtlCol="0" anchor="ctr"/>
          <a:lstStyle/>
          <a:p>
            <a:pPr algn="ctr" indent="0" marL="0">
              <a:buNone/>
            </a:pPr>
            <a:r>
              <a:rPr lang="en-US" sz="1500" dirty="0">
                <a:solidFill>
                  <a:schemeClr val="tx1"/>
                </a:solidFill>
              </a:rPr>
              <a:t>AI forecast and</a:t>
            </a:r>
            <a:endParaRPr lang="en-US" sz="1500" dirty="0"/>
          </a:p>
          <a:p>
            <a:pPr algn="ctr" indent="0" marL="0">
              <a:buNone/>
            </a:pPr>
            <a:r>
              <a:rPr lang="en-US" sz="1500" dirty="0">
                <a:solidFill>
                  <a:schemeClr val="tx1"/>
                </a:solidFill>
              </a:rPr>
              <a:t>draft quantity</a:t>
            </a:r>
            <a:endParaRPr lang="en-US" sz="1500" dirty="0"/>
          </a:p>
        </p:txBody>
      </p:sp>
      <p:sp>
        <p:nvSpPr>
          <p:cNvPr id="22" name="Shape 19"/>
          <p:cNvSpPr/>
          <p:nvPr/>
        </p:nvSpPr>
        <p:spPr>
          <a:xfrm>
            <a:off x="4876678" y="3881628"/>
            <a:ext cx="155448" cy="0"/>
          </a:xfrm>
          <a:prstGeom prst="line">
            <a:avLst/>
          </a:prstGeom>
          <a:noFill/>
          <a:ln w="19050">
            <a:solidFill>
              <a:schemeClr val="accent6"/>
            </a:solidFill>
            <a:prstDash val="solid"/>
            <a:tailEnd type="triangle"/>
          </a:ln>
        </p:spPr>
      </p:sp>
      <p:sp>
        <p:nvSpPr>
          <p:cNvPr id="23" name="Proposed step 3"/>
          <p:cNvSpPr txBox="1"/>
          <p:nvPr/>
        </p:nvSpPr>
        <p:spPr>
          <a:xfrm>
            <a:off x="5114422" y="3493008"/>
            <a:ext cx="1962851" cy="777240"/>
          </a:xfrm>
          <a:prstGeom prst="roundRect">
            <a:avLst>
              <a:gd name="adj" fmla="val 705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Staff review and</a:t>
            </a:r>
            <a:endParaRPr lang="en-US" sz="1500" dirty="0"/>
          </a:p>
          <a:p>
            <a:pPr algn="ctr" indent="0" marL="0">
              <a:buNone/>
            </a:pPr>
            <a:r>
              <a:rPr lang="en-US" sz="1500" b="1" dirty="0">
                <a:solidFill>
                  <a:schemeClr val="bg1"/>
                </a:solidFill>
              </a:rPr>
              <a:t>manager approval</a:t>
            </a:r>
            <a:endParaRPr lang="en-US" sz="1500" dirty="0"/>
          </a:p>
        </p:txBody>
      </p:sp>
      <p:sp>
        <p:nvSpPr>
          <p:cNvPr id="24" name="Shape 21"/>
          <p:cNvSpPr/>
          <p:nvPr/>
        </p:nvSpPr>
        <p:spPr>
          <a:xfrm>
            <a:off x="7159569" y="3881628"/>
            <a:ext cx="155448" cy="0"/>
          </a:xfrm>
          <a:prstGeom prst="line">
            <a:avLst/>
          </a:prstGeom>
          <a:noFill/>
          <a:ln w="19050">
            <a:solidFill>
              <a:schemeClr val="accent6"/>
            </a:solidFill>
            <a:prstDash val="solid"/>
            <a:tailEnd type="triangle"/>
          </a:ln>
        </p:spPr>
      </p:sp>
      <p:sp>
        <p:nvSpPr>
          <p:cNvPr id="25" name="Proposed step 4"/>
          <p:cNvSpPr txBox="1"/>
          <p:nvPr/>
        </p:nvSpPr>
        <p:spPr>
          <a:xfrm>
            <a:off x="7397313" y="3493008"/>
            <a:ext cx="1962851" cy="777240"/>
          </a:xfrm>
          <a:prstGeom prst="roundRect">
            <a:avLst>
              <a:gd name="adj" fmla="val 7059"/>
            </a:avLst>
          </a:prstGeom>
          <a:solidFill>
            <a:schemeClr val="bg1"/>
          </a:solidFill>
          <a:ln w="12700">
            <a:solidFill>
              <a:srgbClr val="AEBBBE"/>
            </a:solidFill>
          </a:ln>
        </p:spPr>
        <p:txBody>
          <a:bodyPr wrap="square" lIns="50800" tIns="50800" rIns="50800" bIns="50800" rtlCol="0" anchor="ctr"/>
          <a:lstStyle/>
          <a:p>
            <a:pPr algn="ctr" indent="0" marL="0">
              <a:buNone/>
            </a:pPr>
            <a:r>
              <a:rPr lang="en-US" sz="1500" dirty="0">
                <a:solidFill>
                  <a:schemeClr val="tx1"/>
                </a:solidFill>
              </a:rPr>
              <a:t>Send approved order</a:t>
            </a:r>
            <a:endParaRPr lang="en-US" sz="1500" dirty="0"/>
          </a:p>
          <a:p>
            <a:pPr algn="ctr" indent="0" marL="0">
              <a:buNone/>
            </a:pPr>
            <a:r>
              <a:rPr lang="en-US" sz="1500" dirty="0">
                <a:solidFill>
                  <a:schemeClr val="tx1"/>
                </a:solidFill>
              </a:rPr>
              <a:t>and receive goods</a:t>
            </a:r>
            <a:endParaRPr lang="en-US" sz="1500" dirty="0"/>
          </a:p>
        </p:txBody>
      </p:sp>
      <p:sp>
        <p:nvSpPr>
          <p:cNvPr id="26" name="Shape 23"/>
          <p:cNvSpPr/>
          <p:nvPr/>
        </p:nvSpPr>
        <p:spPr>
          <a:xfrm>
            <a:off x="9442460" y="3881628"/>
            <a:ext cx="155448" cy="0"/>
          </a:xfrm>
          <a:prstGeom prst="line">
            <a:avLst/>
          </a:prstGeom>
          <a:noFill/>
          <a:ln w="19050">
            <a:solidFill>
              <a:schemeClr val="accent6"/>
            </a:solidFill>
            <a:prstDash val="solid"/>
            <a:tailEnd type="triangle"/>
          </a:ln>
        </p:spPr>
      </p:sp>
      <p:sp>
        <p:nvSpPr>
          <p:cNvPr id="27" name="Proposed step 5"/>
          <p:cNvSpPr txBox="1"/>
          <p:nvPr/>
        </p:nvSpPr>
        <p:spPr>
          <a:xfrm>
            <a:off x="9680204" y="3493008"/>
            <a:ext cx="1962851" cy="777240"/>
          </a:xfrm>
          <a:prstGeom prst="roundRect">
            <a:avLst>
              <a:gd name="adj" fmla="val 7059"/>
            </a:avLst>
          </a:prstGeom>
          <a:solidFill>
            <a:schemeClr val="bg1"/>
          </a:solidFill>
          <a:ln w="12700">
            <a:solidFill>
              <a:srgbClr val="AEBBBE"/>
            </a:solidFill>
          </a:ln>
        </p:spPr>
        <p:txBody>
          <a:bodyPr wrap="square" lIns="50800" tIns="50800" rIns="50800" bIns="50800" rtlCol="0" anchor="ctr"/>
          <a:lstStyle/>
          <a:p>
            <a:pPr algn="ctr" indent="0" marL="0">
              <a:buNone/>
            </a:pPr>
            <a:r>
              <a:rPr lang="en-US" sz="1500" dirty="0">
                <a:solidFill>
                  <a:schemeClr val="tx1"/>
                </a:solidFill>
              </a:rPr>
              <a:t>Check availability</a:t>
            </a:r>
            <a:endParaRPr lang="en-US" sz="1500" dirty="0"/>
          </a:p>
          <a:p>
            <a:pPr algn="ctr" indent="0" marL="0">
              <a:buNone/>
            </a:pPr>
            <a:r>
              <a:rPr lang="en-US" sz="1500" dirty="0">
                <a:solidFill>
                  <a:schemeClr val="tx1"/>
                </a:solidFill>
              </a:rPr>
              <a:t>and costs</a:t>
            </a:r>
            <a:endParaRPr lang="en-US" sz="1500" dirty="0"/>
          </a:p>
        </p:txBody>
      </p:sp>
      <p:sp>
        <p:nvSpPr>
          <p:cNvPr id="28" name="Chip Automated"/>
          <p:cNvSpPr txBox="1"/>
          <p:nvPr/>
        </p:nvSpPr>
        <p:spPr>
          <a:xfrm>
            <a:off x="685800" y="4379976"/>
            <a:ext cx="1688531" cy="274320"/>
          </a:xfrm>
          <a:prstGeom prst="roundRect">
            <a:avLst>
              <a:gd name="adj" fmla="val 50000"/>
            </a:avLst>
          </a:prstGeom>
          <a:solidFill>
            <a:schemeClr val="accent4"/>
          </a:solidFill>
          <a:ln w="12700">
            <a:solidFill>
              <a:schemeClr val="accent4"/>
            </a:solidFill>
          </a:ln>
        </p:spPr>
        <p:txBody>
          <a:bodyPr wrap="square" lIns="0" tIns="0" rIns="0" bIns="0" rtlCol="0" anchor="ctr"/>
          <a:lstStyle/>
          <a:p>
            <a:pPr algn="ctr" indent="0" marL="0">
              <a:buNone/>
            </a:pPr>
            <a:r>
              <a:rPr lang="en-US" sz="1100" b="1" dirty="0">
                <a:solidFill>
                  <a:schemeClr val="bg1"/>
                </a:solidFill>
              </a:rPr>
              <a:t>Automated</a:t>
            </a:r>
            <a:endParaRPr lang="en-US" sz="1100" dirty="0"/>
          </a:p>
        </p:txBody>
      </p:sp>
      <p:sp>
        <p:nvSpPr>
          <p:cNvPr id="29" name="Chip AI Executes + Review"/>
          <p:cNvSpPr txBox="1"/>
          <p:nvPr/>
        </p:nvSpPr>
        <p:spPr>
          <a:xfrm>
            <a:off x="2968691" y="4379976"/>
            <a:ext cx="1688531" cy="274320"/>
          </a:xfrm>
          <a:prstGeom prst="roundRect">
            <a:avLst>
              <a:gd name="adj" fmla="val 50000"/>
            </a:avLst>
          </a:prstGeom>
          <a:solidFill>
            <a:schemeClr val="accent3"/>
          </a:solidFill>
          <a:ln w="12700">
            <a:solidFill>
              <a:schemeClr val="accent3"/>
            </a:solidFill>
          </a:ln>
        </p:spPr>
        <p:txBody>
          <a:bodyPr wrap="square" lIns="0" tIns="0" rIns="0" bIns="0" rtlCol="0" anchor="ctr"/>
          <a:lstStyle/>
          <a:p>
            <a:pPr algn="ctr" indent="0" marL="0">
              <a:buNone/>
            </a:pPr>
            <a:r>
              <a:rPr lang="en-US" sz="1100" b="1" dirty="0">
                <a:solidFill>
                  <a:schemeClr val="bg1"/>
                </a:solidFill>
              </a:rPr>
              <a:t>AI Executes + Review</a:t>
            </a:r>
            <a:endParaRPr lang="en-US" sz="1100" dirty="0"/>
          </a:p>
        </p:txBody>
      </p:sp>
      <p:sp>
        <p:nvSpPr>
          <p:cNvPr id="30" name="Chip Human + AI"/>
          <p:cNvSpPr txBox="1"/>
          <p:nvPr/>
        </p:nvSpPr>
        <p:spPr>
          <a:xfrm>
            <a:off x="5251582" y="4379976"/>
            <a:ext cx="1688531" cy="274320"/>
          </a:xfrm>
          <a:prstGeom prst="roundRect">
            <a:avLst>
              <a:gd name="adj" fmla="val 50000"/>
            </a:avLst>
          </a:prstGeom>
          <a:solidFill>
            <a:schemeClr val="accent2"/>
          </a:solidFill>
          <a:ln w="12700">
            <a:solidFill>
              <a:schemeClr val="accent2"/>
            </a:solidFill>
          </a:ln>
        </p:spPr>
        <p:txBody>
          <a:bodyPr wrap="square" lIns="0" tIns="0" rIns="0" bIns="0" rtlCol="0" anchor="ctr"/>
          <a:lstStyle/>
          <a:p>
            <a:pPr algn="ctr" indent="0" marL="0">
              <a:buNone/>
            </a:pPr>
            <a:r>
              <a:rPr lang="en-US" sz="1100" b="1" dirty="0">
                <a:solidFill>
                  <a:schemeClr val="bg1"/>
                </a:solidFill>
              </a:rPr>
              <a:t>Human + AI</a:t>
            </a:r>
            <a:endParaRPr lang="en-US" sz="1100" dirty="0"/>
          </a:p>
        </p:txBody>
      </p:sp>
      <p:sp>
        <p:nvSpPr>
          <p:cNvPr id="31" name="Chip Human Only"/>
          <p:cNvSpPr txBox="1"/>
          <p:nvPr/>
        </p:nvSpPr>
        <p:spPr>
          <a:xfrm>
            <a:off x="5251582" y="4727448"/>
            <a:ext cx="1688531" cy="274320"/>
          </a:xfrm>
          <a:prstGeom prst="roundRect">
            <a:avLst>
              <a:gd name="adj" fmla="val 50000"/>
            </a:avLst>
          </a:prstGeom>
          <a:solidFill>
            <a:schemeClr val="accent1"/>
          </a:solidFill>
          <a:ln w="12700">
            <a:solidFill>
              <a:schemeClr val="accent1"/>
            </a:solidFill>
          </a:ln>
        </p:spPr>
        <p:txBody>
          <a:bodyPr wrap="square" lIns="0" tIns="0" rIns="0" bIns="0" rtlCol="0" anchor="ctr"/>
          <a:lstStyle/>
          <a:p>
            <a:pPr algn="ctr" indent="0" marL="0">
              <a:buNone/>
            </a:pPr>
            <a:r>
              <a:rPr lang="en-US" sz="1100" b="1" dirty="0">
                <a:solidFill>
                  <a:schemeClr val="bg1"/>
                </a:solidFill>
              </a:rPr>
              <a:t>Human Only</a:t>
            </a:r>
            <a:endParaRPr lang="en-US" sz="1100" dirty="0"/>
          </a:p>
        </p:txBody>
      </p:sp>
      <p:sp>
        <p:nvSpPr>
          <p:cNvPr id="32" name="Chip Measured by KPI ↓"/>
          <p:cNvSpPr txBox="1"/>
          <p:nvPr/>
        </p:nvSpPr>
        <p:spPr>
          <a:xfrm>
            <a:off x="9817364" y="4379976"/>
            <a:ext cx="1688531" cy="274320"/>
          </a:xfrm>
          <a:prstGeom prst="roundRect">
            <a:avLst>
              <a:gd name="adj" fmla="val 50000"/>
            </a:avLst>
          </a:prstGeom>
          <a:solidFill>
            <a:schemeClr val="bg1"/>
          </a:solidFill>
          <a:ln w="12700">
            <a:solidFill>
              <a:schemeClr val="tx2"/>
            </a:solidFill>
          </a:ln>
        </p:spPr>
        <p:txBody>
          <a:bodyPr wrap="square" lIns="0" tIns="0" rIns="0" bIns="0" rtlCol="0" anchor="ctr"/>
          <a:lstStyle/>
          <a:p>
            <a:pPr algn="ctr" indent="0" marL="0">
              <a:buNone/>
            </a:pPr>
            <a:r>
              <a:rPr lang="en-US" sz="1100" b="1" dirty="0">
                <a:solidFill>
                  <a:schemeClr val="tx2"/>
                </a:solidFill>
              </a:rPr>
              <a:t>Measured by KPI ↓</a:t>
            </a:r>
            <a:endParaRPr lang="en-US" sz="1100" dirty="0"/>
          </a:p>
        </p:txBody>
      </p:sp>
      <p:sp>
        <p:nvSpPr>
          <p:cNvPr id="33" name="KPI panel"/>
          <p:cNvSpPr/>
          <p:nvPr/>
        </p:nvSpPr>
        <p:spPr>
          <a:xfrm>
            <a:off x="548640" y="5138928"/>
            <a:ext cx="11094415" cy="1024128"/>
          </a:xfrm>
          <a:prstGeom prst="roundRect">
            <a:avLst>
              <a:gd name="adj" fmla="val 7143"/>
            </a:avLst>
          </a:prstGeom>
          <a:solidFill>
            <a:schemeClr val="bg2"/>
          </a:solidFill>
          <a:ln w="12700">
            <a:solidFill>
              <a:schemeClr val="bg2"/>
            </a:solidFill>
            <a:prstDash val="solid"/>
          </a:ln>
        </p:spPr>
      </p:sp>
      <p:sp>
        <p:nvSpPr>
          <p:cNvPr id="34" name="Chip KPI"/>
          <p:cNvSpPr txBox="1"/>
          <p:nvPr/>
        </p:nvSpPr>
        <p:spPr>
          <a:xfrm>
            <a:off x="822960" y="5321808"/>
            <a:ext cx="566928" cy="274320"/>
          </a:xfrm>
          <a:prstGeom prst="roundRect">
            <a:avLst>
              <a:gd name="adj" fmla="val 50000"/>
            </a:avLst>
          </a:prstGeom>
          <a:solidFill>
            <a:schemeClr val="tx2"/>
          </a:solidFill>
          <a:ln w="12700">
            <a:solidFill>
              <a:schemeClr val="tx2"/>
            </a:solidFill>
          </a:ln>
        </p:spPr>
        <p:txBody>
          <a:bodyPr wrap="square" lIns="0" tIns="0" rIns="0" bIns="0" rtlCol="0" anchor="ctr"/>
          <a:lstStyle/>
          <a:p>
            <a:pPr algn="ctr" indent="0" marL="0">
              <a:buNone/>
            </a:pPr>
            <a:r>
              <a:rPr lang="en-US" sz="1100" b="1" dirty="0">
                <a:solidFill>
                  <a:schemeClr val="bg1"/>
                </a:solidFill>
              </a:rPr>
              <a:t>KPI</a:t>
            </a:r>
            <a:endParaRPr lang="en-US" sz="1100" dirty="0"/>
          </a:p>
        </p:txBody>
      </p:sp>
      <p:sp>
        <p:nvSpPr>
          <p:cNvPr id="35" name="Text 32"/>
          <p:cNvSpPr txBox="1"/>
          <p:nvPr/>
        </p:nvSpPr>
        <p:spPr>
          <a:xfrm>
            <a:off x="1554480" y="5266944"/>
            <a:ext cx="5486400" cy="384048"/>
          </a:xfrm>
          <a:prstGeom prst="rect">
            <a:avLst/>
          </a:prstGeom>
          <a:noFill/>
          <a:ln/>
        </p:spPr>
        <p:txBody>
          <a:bodyPr wrap="square" lIns="0" tIns="0" rIns="0" bIns="0" rtlCol="0" anchor="ctr"/>
          <a:lstStyle/>
          <a:p>
            <a:pPr indent="0" marL="0">
              <a:buNone/>
            </a:pPr>
            <a:r>
              <a:rPr lang="en-US" sz="2100" b="1" dirty="0">
                <a:solidFill>
                  <a:schemeClr val="tx2"/>
                </a:solidFill>
              </a:rPr>
              <a:t>Shelf availability</a:t>
            </a:r>
            <a:endParaRPr lang="en-US" sz="2100" dirty="0"/>
          </a:p>
        </p:txBody>
      </p:sp>
      <p:sp>
        <p:nvSpPr>
          <p:cNvPr id="36" name="Text 33"/>
          <p:cNvSpPr txBox="1"/>
          <p:nvPr/>
        </p:nvSpPr>
        <p:spPr>
          <a:xfrm>
            <a:off x="1554480" y="5687568"/>
            <a:ext cx="5943600" cy="329184"/>
          </a:xfrm>
          <a:prstGeom prst="rect">
            <a:avLst/>
          </a:prstGeom>
          <a:noFill/>
          <a:ln/>
        </p:spPr>
        <p:txBody>
          <a:bodyPr wrap="square" lIns="0" tIns="0" rIns="0" bIns="0" rtlCol="0" anchor="ctr"/>
          <a:lstStyle/>
          <a:p>
            <a:pPr indent="0" marL="0">
              <a:buNone/>
            </a:pPr>
            <a:r>
              <a:rPr lang="en-US" sz="1600" dirty="0">
                <a:solidFill>
                  <a:schemeClr val="tx1"/>
                </a:solidFill>
              </a:rPr>
              <a:t>Successful shelf checks ÷ all scheduled checks × 100</a:t>
            </a:r>
            <a:endParaRPr lang="en-US" sz="1600" dirty="0"/>
          </a:p>
        </p:txBody>
      </p:sp>
      <p:sp>
        <p:nvSpPr>
          <p:cNvPr id="37" name="Text 34"/>
          <p:cNvSpPr txBox="1"/>
          <p:nvPr/>
        </p:nvSpPr>
        <p:spPr>
          <a:xfrm>
            <a:off x="7360920" y="5212080"/>
            <a:ext cx="1920240" cy="56692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 98%</a:t>
            </a:r>
            <a:endParaRPr lang="en-US" sz="3600" dirty="0"/>
          </a:p>
        </p:txBody>
      </p:sp>
      <p:sp>
        <p:nvSpPr>
          <p:cNvPr id="38" name="Text 35"/>
          <p:cNvSpPr txBox="1"/>
          <p:nvPr/>
        </p:nvSpPr>
        <p:spPr>
          <a:xfrm>
            <a:off x="7360920" y="5779008"/>
            <a:ext cx="2194560" cy="274320"/>
          </a:xfrm>
          <a:prstGeom prst="rect">
            <a:avLst/>
          </a:prstGeom>
          <a:noFill/>
          <a:ln/>
        </p:spPr>
        <p:txBody>
          <a:bodyPr wrap="square" lIns="0" tIns="0" rIns="0" bIns="0" rtlCol="0" anchor="t"/>
          <a:lstStyle/>
          <a:p>
            <a:pPr indent="0" marL="0">
              <a:buNone/>
            </a:pPr>
            <a:r>
              <a:rPr lang="en-US" sz="1200" dirty="0">
                <a:solidFill>
                  <a:schemeClr val="accent6"/>
                </a:solidFill>
              </a:rPr>
              <a:t>Proposed six-month target</a:t>
            </a:r>
            <a:endParaRPr lang="en-US" sz="1200" dirty="0"/>
          </a:p>
        </p:txBody>
      </p:sp>
      <p:sp>
        <p:nvSpPr>
          <p:cNvPr id="39" name="Text 36"/>
          <p:cNvSpPr txBox="1"/>
          <p:nvPr/>
        </p:nvSpPr>
        <p:spPr>
          <a:xfrm>
            <a:off x="9464040" y="5340096"/>
            <a:ext cx="2103120" cy="274320"/>
          </a:xfrm>
          <a:prstGeom prst="rect">
            <a:avLst/>
          </a:prstGeom>
          <a:noFill/>
          <a:ln/>
        </p:spPr>
        <p:txBody>
          <a:bodyPr wrap="square" lIns="0" tIns="0" rIns="0" bIns="0" rtlCol="0" anchor="t"/>
          <a:lstStyle/>
          <a:p>
            <a:pPr indent="0" marL="0">
              <a:buNone/>
            </a:pPr>
            <a:r>
              <a:rPr lang="en-US" sz="1200" dirty="0">
                <a:solidFill>
                  <a:schemeClr val="accent6"/>
                </a:solidFill>
              </a:rPr>
              <a:t>Monitor alongside</a:t>
            </a:r>
            <a:endParaRPr lang="en-US" sz="1200" dirty="0"/>
          </a:p>
        </p:txBody>
      </p:sp>
      <p:sp>
        <p:nvSpPr>
          <p:cNvPr id="40" name="Text 37"/>
          <p:cNvSpPr txBox="1"/>
          <p:nvPr/>
        </p:nvSpPr>
        <p:spPr>
          <a:xfrm>
            <a:off x="9464040" y="5614416"/>
            <a:ext cx="2148840" cy="365760"/>
          </a:xfrm>
          <a:prstGeom prst="rect">
            <a:avLst/>
          </a:prstGeom>
          <a:noFill/>
          <a:ln/>
        </p:spPr>
        <p:txBody>
          <a:bodyPr wrap="square" lIns="0" tIns="0" rIns="0" bIns="0" rtlCol="0" anchor="t"/>
          <a:lstStyle/>
          <a:p>
            <a:pPr indent="0" marL="0">
              <a:buNone/>
            </a:pPr>
            <a:r>
              <a:rPr lang="en-US" sz="1500" b="1" dirty="0">
                <a:solidFill>
                  <a:schemeClr val="tx2"/>
                </a:solidFill>
              </a:rPr>
              <a:t>Waste and ordering costs</a:t>
            </a:r>
            <a:endParaRPr lang="en-US" sz="1500" dirty="0"/>
          </a:p>
        </p:txBody>
      </p:sp>
      <p:sp>
        <p:nvSpPr>
          <p:cNvPr id="41" name="Text 38"/>
          <p:cNvSpPr txBox="1"/>
          <p:nvPr/>
        </p:nvSpPr>
        <p:spPr>
          <a:xfrm>
            <a:off x="548640" y="6382512"/>
            <a:ext cx="10424160" cy="274320"/>
          </a:xfrm>
          <a:prstGeom prst="rect">
            <a:avLst/>
          </a:prstGeom>
          <a:noFill/>
          <a:ln/>
        </p:spPr>
        <p:txBody>
          <a:bodyPr wrap="square" lIns="0" tIns="0" rIns="0" bIns="0" rtlCol="0" anchor="ctr"/>
          <a:lstStyle/>
          <a:p>
            <a:pPr indent="0" marL="0">
              <a:buNone/>
            </a:pPr>
            <a:r>
              <a:rPr lang="en-US" sz="1000" dirty="0">
                <a:solidFill>
                  <a:schemeClr val="accent6"/>
                </a:solidFill>
              </a:rPr>
              <a:t>Source: [2] Magnum Cash&amp;Carry, Corporate rules (supplier and product acceptance, incl. remaining shelf life). Detailed workflow is not public; the target is a pilot proposal.</a:t>
            </a:r>
            <a:endParaRPr lang="en-US" sz="10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Human–AI task allocation matrix</a:t>
            </a:r>
            <a:endParaRPr lang="en-US" sz="3400" dirty="0"/>
          </a:p>
        </p:txBody>
      </p:sp>
      <p:graphicFrame>
        <p:nvGraphicFramePr>
          <p:cNvPr id="4" name="Allocation matrix"/>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2331720"/>
                <a:gridCol w="2743200"/>
                <a:gridCol w="3063240"/>
                <a:gridCol w="2956255"/>
              </a:tblGrid>
              <a:tr h="475488">
                <a:tc>
                  <a:txBody>
                    <a:bodyPr/>
                    <a:lstStyle/>
                    <a:p>
                      <a:pPr indent="0" marL="0">
                        <a:buNone/>
                      </a:pPr>
                      <a:r>
                        <a:rPr lang="en-US" sz="1500" b="1" dirty="0">
                          <a:solidFill>
                            <a:schemeClr val="bg1"/>
                          </a:solidFill>
                        </a:rPr>
                        <a:t>Category</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Task</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Human control</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Reason</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tx2"/>
                    </a:solidFill>
                  </a:tcPr>
                </a:tc>
              </a:tr>
              <a:tr h="914400">
                <a:tc>
                  <a:txBody>
                    <a:bodyPr/>
                    <a:lstStyle/>
                    <a:p>
                      <a:pPr indent="0" marL="0">
                        <a:buNone/>
                      </a:pPr>
                      <a:r>
                        <a:rPr lang="en-US" sz="1600" b="1" dirty="0">
                          <a:solidFill>
                            <a:schemeClr val="bg1"/>
                          </a:solidFill>
                        </a:rPr>
                        <a:t>Human Only</a:t>
                      </a:r>
                      <a:endParaRPr lang="en-US" sz="16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accent1"/>
                    </a:solidFill>
                  </a:tcPr>
                </a:tc>
                <a:tc>
                  <a:txBody>
                    <a:bodyPr/>
                    <a:lstStyle/>
                    <a:p>
                      <a:pPr indent="0" marL="0">
                        <a:buNone/>
                      </a:pPr>
                      <a:r>
                        <a:rPr lang="en-US" sz="1500" dirty="0">
                          <a:solidFill>
                            <a:schemeClr val="tx1"/>
                          </a:solidFill>
                        </a:rPr>
                        <a:t>Approve orders and budget exceptions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Manager checks stock, shelf life and budget.</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Spending and product acceptance need named accountability.</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bg1"/>
                    </a:solidFill>
                  </a:tcPr>
                </a:tc>
              </a:tr>
              <a:tr h="914400">
                <a:tc>
                  <a:txBody>
                    <a:bodyPr/>
                    <a:lstStyle/>
                    <a:p>
                      <a:pPr indent="0" marL="0">
                        <a:buNone/>
                      </a:pPr>
                      <a:r>
                        <a:rPr lang="en-US" sz="1600" b="1" dirty="0">
                          <a:solidFill>
                            <a:schemeClr val="bg1"/>
                          </a:solidFill>
                        </a:rPr>
                        <a:t>Human + AI</a:t>
                      </a:r>
                      <a:endParaRPr lang="en-US" sz="16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accent2"/>
                    </a:solidFill>
                  </a:tcPr>
                </a:tc>
                <a:tc>
                  <a:txBody>
                    <a:bodyPr/>
                    <a:lstStyle/>
                    <a:p>
                      <a:pPr indent="0" marL="0">
                        <a:buNone/>
                      </a:pPr>
                      <a:r>
                        <a:rPr lang="en-US" sz="1500" dirty="0">
                          <a:solidFill>
                            <a:schemeClr val="tx1"/>
                          </a:solidFill>
                        </a:rPr>
                        <a:t>Plan promotions and interpret supply constraints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rgbClr val="F6F8F8"/>
                    </a:solidFill>
                  </a:tcPr>
                </a:tc>
                <a:tc>
                  <a:txBody>
                    <a:bodyPr/>
                    <a:lstStyle/>
                    <a:p>
                      <a:pPr indent="0" marL="0">
                        <a:buNone/>
                      </a:pPr>
                      <a:r>
                        <a:rPr lang="en-US" sz="1500" dirty="0">
                          <a:solidFill>
                            <a:schemeClr val="tx1"/>
                          </a:solidFill>
                        </a:rPr>
                        <a:t>Staff test suggestions against local events and supplier limits.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rgbClr val="F6F8F8"/>
                    </a:solidFill>
                  </a:tcPr>
                </a:tc>
                <a:tc>
                  <a:txBody>
                    <a:bodyPr/>
                    <a:lstStyle/>
                    <a:p>
                      <a:pPr indent="0" marL="0">
                        <a:buNone/>
                      </a:pPr>
                      <a:r>
                        <a:rPr lang="en-US" sz="1500" dirty="0">
                          <a:solidFill>
                            <a:schemeClr val="tx1"/>
                          </a:solidFill>
                        </a:rPr>
                        <a:t>Store knowledge helps staff challenge forecasts.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rgbClr val="F6F8F8"/>
                    </a:solidFill>
                  </a:tcPr>
                </a:tc>
              </a:tr>
              <a:tr h="914400">
                <a:tc>
                  <a:txBody>
                    <a:bodyPr/>
                    <a:lstStyle/>
                    <a:p>
                      <a:pPr indent="0" marL="0">
                        <a:buNone/>
                      </a:pPr>
                      <a:r>
                        <a:rPr lang="en-US" sz="1600" b="1" dirty="0">
                          <a:solidFill>
                            <a:schemeClr val="bg1"/>
                          </a:solidFill>
                        </a:rPr>
                        <a:t>AI Executes with Human Review</a:t>
                      </a:r>
                      <a:endParaRPr lang="en-US" sz="16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accent3"/>
                    </a:solidFill>
                  </a:tcPr>
                </a:tc>
                <a:tc>
                  <a:txBody>
                    <a:bodyPr/>
                    <a:lstStyle/>
                    <a:p>
                      <a:pPr indent="0" marL="0">
                        <a:buNone/>
                      </a:pPr>
                      <a:r>
                        <a:rPr lang="en-US" sz="1500" dirty="0">
                          <a:solidFill>
                            <a:schemeClr val="tx1"/>
                          </a:solidFill>
                        </a:rPr>
                        <a:t>Forecast demand and draft order quantities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Manager checks sales, physical stock and promotions before release.</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Sales patterns help forecasting, but input errors can distort quantities.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bg1"/>
                    </a:solidFill>
                  </a:tcPr>
                </a:tc>
              </a:tr>
              <a:tr h="914400">
                <a:tc>
                  <a:txBody>
                    <a:bodyPr/>
                    <a:lstStyle/>
                    <a:p>
                      <a:pPr indent="0" marL="0">
                        <a:buNone/>
                      </a:pPr>
                      <a:r>
                        <a:rPr lang="en-US" sz="1600" b="1" dirty="0">
                          <a:solidFill>
                            <a:schemeClr val="bg1"/>
                          </a:solidFill>
                        </a:rPr>
                        <a:t>Automated</a:t>
                      </a:r>
                      <a:endParaRPr lang="en-US" sz="16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chemeClr val="accent4"/>
                    </a:solidFill>
                  </a:tcPr>
                </a:tc>
                <a:tc>
                  <a:txBody>
                    <a:bodyPr/>
                    <a:lstStyle/>
                    <a:p>
                      <a:pPr indent="0" marL="0">
                        <a:buNone/>
                      </a:pPr>
                      <a:r>
                        <a:rPr lang="en-US" sz="1500" dirty="0">
                          <a:solidFill>
                            <a:schemeClr val="tx1"/>
                          </a:solidFill>
                        </a:rPr>
                        <a:t>Check missing or stale data. Log approved orders.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rgbClr val="F6F8F8"/>
                    </a:solidFill>
                  </a:tcPr>
                </a:tc>
                <a:tc>
                  <a:txBody>
                    <a:bodyPr/>
                    <a:lstStyle/>
                    <a:p>
                      <a:pPr indent="0" marL="0">
                        <a:buNone/>
                      </a:pPr>
                      <a:r>
                        <a:rPr lang="en-US" sz="1500" dirty="0">
                          <a:solidFill>
                            <a:schemeClr val="tx1"/>
                          </a:solidFill>
                        </a:rPr>
                        <a:t>Fixed rules block affected recommendations and alert staff.</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rgbClr val="F6F8F8"/>
                    </a:solidFill>
                  </a:tcPr>
                </a:tc>
                <a:tc>
                  <a:txBody>
                    <a:bodyPr/>
                    <a:lstStyle/>
                    <a:p>
                      <a:pPr indent="0" marL="0">
                        <a:buNone/>
                      </a:pPr>
                      <a:r>
                        <a:rPr lang="en-US" sz="1500" dirty="0">
                          <a:solidFill>
                            <a:schemeClr val="tx1"/>
                          </a:solidFill>
                        </a:rPr>
                        <a:t>Explicit pass or fail criteria support consistent checks.</a:t>
                      </a:r>
                      <a:endParaRPr lang="en-US" sz="1500" dirty="0"/>
                    </a:p>
                  </a:txBody>
                  <a:tcPr marL="127000" marR="127000" marT="50800" marB="50800" anchor="ctr">
                    <a:lnL w="9525" cap="flat" cmpd="sng" algn="ctr">
                      <a:solidFill>
                        <a:srgbClr val="D3DCDE"/>
                      </a:solidFill>
                      <a:prstDash val="solid"/>
                      <a:round/>
                      <a:headEnd type="none" w="med" len="med"/>
                      <a:tailEnd type="none" w="med" len="med"/>
                    </a:lnL>
                    <a:lnR w="9525" cap="flat" cmpd="sng" algn="ctr">
                      <a:solidFill>
                        <a:srgbClr val="D3DCDE"/>
                      </a:solidFill>
                      <a:prstDash val="solid"/>
                      <a:round/>
                      <a:headEnd type="none" w="med" len="med"/>
                      <a:tailEnd type="none" w="med" len="med"/>
                    </a:lnR>
                    <a:lnT w="9525" cap="flat" cmpd="sng" algn="ctr">
                      <a:solidFill>
                        <a:srgbClr val="D3DCDE"/>
                      </a:solidFill>
                      <a:prstDash val="solid"/>
                      <a:round/>
                      <a:headEnd type="none" w="med" len="med"/>
                      <a:tailEnd type="none" w="med" len="med"/>
                    </a:lnT>
                    <a:lnB w="9525" cap="flat" cmpd="sng" algn="ctr">
                      <a:solidFill>
                        <a:srgbClr val="D3DCDE"/>
                      </a:solidFill>
                      <a:prstDash val="solid"/>
                      <a:round/>
                      <a:headEnd type="none" w="med" len="med"/>
                      <a:tailEnd type="none" w="med" len="med"/>
                    </a:lnB>
                    <a:solidFill>
                      <a:srgbClr val="F6F8F8"/>
                    </a:solidFill>
                  </a:tcPr>
                </a:tc>
              </a:tr>
            </a:tbl>
          </a:graphicData>
        </a:graphic>
      </p:graphicFrame>
      <p:sp>
        <p:nvSpPr>
          <p:cNvPr id="4" name="Basis strip"/>
          <p:cNvSpPr txBox="1"/>
          <p:nvPr/>
        </p:nvSpPr>
        <p:spPr>
          <a:xfrm>
            <a:off x="548640" y="5623560"/>
            <a:ext cx="11094415" cy="457200"/>
          </a:xfrm>
          <a:prstGeom prst="roundRect">
            <a:avLst>
              <a:gd name="adj" fmla="val 16000"/>
            </a:avLst>
          </a:prstGeom>
          <a:solidFill>
            <a:schemeClr val="bg2"/>
          </a:solidFill>
          <a:ln>
            <a:solidFill>
              <a:schemeClr val="bg2"/>
            </a:solidFill>
          </a:ln>
        </p:spPr>
        <p:txBody>
          <a:bodyPr wrap="square" lIns="177800" tIns="0" rIns="177800" bIns="0" rtlCol="0" anchor="ctr"/>
          <a:lstStyle/>
          <a:p>
            <a:pPr indent="0" marL="0">
              <a:buNone/>
            </a:pPr>
            <a:r>
              <a:rPr lang="en-US" sz="1400" b="1" dirty="0">
                <a:solidFill>
                  <a:schemeClr val="tx2"/>
                </a:solidFill>
              </a:rPr>
              <a:t>Management basis [3]:  </a:t>
            </a:r>
            <a:pPr indent="0" marL="0">
              <a:buNone/>
            </a:pPr>
            <a:r>
              <a:rPr lang="en-US" sz="1400" dirty="0">
                <a:solidFill>
                  <a:schemeClr val="tx1"/>
                </a:solidFill>
              </a:rPr>
              <a:t>authority vs responsibility  ·  participative leadership  ·  set standards → compare outcomes → correct deviations</a:t>
            </a:r>
            <a:endParaRPr lang="en-US" sz="1400" dirty="0"/>
          </a:p>
        </p:txBody>
      </p:sp>
      <p:sp>
        <p:nvSpPr>
          <p:cNvPr id="5"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en-US" sz="1000" dirty="0">
                <a:solidFill>
                  <a:schemeClr val="accent6"/>
                </a:solidFill>
              </a:rPr>
              <a:t>Proposed roles for the pilot. Final order authority remains with the category manager. Sources: [2]–[5].</a:t>
            </a:r>
            <a:endParaRPr lang="en-US" sz="10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Review, escalation and manual fallback</a:t>
            </a:r>
            <a:endParaRPr lang="en-US" sz="3400" dirty="0"/>
          </a:p>
        </p:txBody>
      </p:sp>
      <p:sp>
        <p:nvSpPr>
          <p:cNvPr id="3" name="Card Before release"/>
          <p:cNvSpPr/>
          <p:nvPr/>
        </p:nvSpPr>
        <p:spPr>
          <a:xfrm>
            <a:off x="548640" y="1371600"/>
            <a:ext cx="3332378" cy="3977640"/>
          </a:xfrm>
          <a:prstGeom prst="roundRect">
            <a:avLst>
              <a:gd name="adj" fmla="val 2744"/>
            </a:avLst>
          </a:prstGeom>
          <a:solidFill>
            <a:schemeClr val="bg1"/>
          </a:solidFill>
          <a:ln w="12700">
            <a:solidFill>
              <a:srgbClr val="D3DCDE"/>
            </a:solidFill>
            <a:prstDash val="solid"/>
          </a:ln>
          <a:effectLst>
            <a:outerShdw sx="100000" sy="100000" kx="0" ky="0" algn="bl" rotWithShape="0" blurRad="76200" dist="25400" dir="5400000">
              <a:srgbClr val="9AA8AB">
                <a:alpha val="25000"/>
              </a:srgbClr>
            </a:outerShdw>
          </a:effectLst>
        </p:spPr>
      </p:sp>
      <p:sp>
        <p:nvSpPr>
          <p:cNvPr id="4" name="Step number 1"/>
          <p:cNvSpPr txBox="1"/>
          <p:nvPr/>
        </p:nvSpPr>
        <p:spPr>
          <a:xfrm>
            <a:off x="804672" y="162763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417320" y="1627632"/>
            <a:ext cx="2326538" cy="457200"/>
          </a:xfrm>
          <a:prstGeom prst="rect">
            <a:avLst/>
          </a:prstGeom>
          <a:noFill/>
          <a:ln/>
        </p:spPr>
        <p:txBody>
          <a:bodyPr wrap="square" lIns="0" tIns="0" rIns="0" bIns="0" rtlCol="0" anchor="ctr"/>
          <a:lstStyle/>
          <a:p>
            <a:pPr indent="0" marL="0">
              <a:buNone/>
            </a:pPr>
            <a:r>
              <a:rPr lang="en-US" sz="2100" b="1" dirty="0">
                <a:solidFill>
                  <a:schemeClr val="tx2"/>
                </a:solidFill>
              </a:rPr>
              <a:t>Before release</a:t>
            </a:r>
            <a:endParaRPr lang="en-US" sz="2100" dirty="0"/>
          </a:p>
        </p:txBody>
      </p:sp>
      <p:sp>
        <p:nvSpPr>
          <p:cNvPr id="6" name="Chip Human review point"/>
          <p:cNvSpPr txBox="1"/>
          <p:nvPr/>
        </p:nvSpPr>
        <p:spPr>
          <a:xfrm>
            <a:off x="822960" y="2286000"/>
            <a:ext cx="2011680" cy="292608"/>
          </a:xfrm>
          <a:prstGeom prst="roundRect">
            <a:avLst>
              <a:gd name="adj" fmla="val 50000"/>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bg1"/>
                </a:solidFill>
              </a:rPr>
              <a:t>Human review point</a:t>
            </a:r>
            <a:endParaRPr lang="en-US" sz="1200" dirty="0"/>
          </a:p>
        </p:txBody>
      </p:sp>
      <p:sp>
        <p:nvSpPr>
          <p:cNvPr id="7" name="Text 5"/>
          <p:cNvSpPr txBox="1"/>
          <p:nvPr/>
        </p:nvSpPr>
        <p:spPr>
          <a:xfrm>
            <a:off x="822960" y="2788920"/>
            <a:ext cx="2875178" cy="320040"/>
          </a:xfrm>
          <a:prstGeom prst="rect">
            <a:avLst/>
          </a:prstGeom>
          <a:noFill/>
          <a:ln/>
        </p:spPr>
        <p:txBody>
          <a:bodyPr wrap="square" lIns="0" tIns="0" rIns="0" bIns="0" rtlCol="0" anchor="t"/>
          <a:lstStyle/>
          <a:p>
            <a:pPr indent="0" marL="0">
              <a:buNone/>
            </a:pPr>
            <a:r>
              <a:rPr lang="en-US" sz="1600" dirty="0">
                <a:solidFill>
                  <a:schemeClr val="tx1"/>
                </a:solidFill>
              </a:rPr>
              <a:t>The category manager checks:</a:t>
            </a:r>
            <a:endParaRPr lang="en-US" sz="1600" dirty="0"/>
          </a:p>
        </p:txBody>
      </p:sp>
      <p:sp>
        <p:nvSpPr>
          <p:cNvPr id="8" name="Check Stock"/>
          <p:cNvSpPr txBox="1"/>
          <p:nvPr/>
        </p:nvSpPr>
        <p:spPr>
          <a:xfrm>
            <a:off x="822960" y="3246120"/>
            <a:ext cx="731520" cy="347472"/>
          </a:xfrm>
          <a:prstGeom prst="roundRect">
            <a:avLst>
              <a:gd name="adj" fmla="val 50000"/>
            </a:avLst>
          </a:prstGeom>
          <a:solidFill>
            <a:schemeClr val="bg2"/>
          </a:solidFill>
          <a:ln w="9525">
            <a:solidFill>
              <a:srgbClr val="C9D4D6"/>
            </a:solidFill>
          </a:ln>
        </p:spPr>
        <p:txBody>
          <a:bodyPr wrap="square" lIns="0" tIns="0" rIns="0" bIns="0" rtlCol="0" anchor="ctr"/>
          <a:lstStyle/>
          <a:p>
            <a:pPr algn="ctr" indent="0" marL="0">
              <a:buNone/>
            </a:pPr>
            <a:r>
              <a:rPr lang="en-US" sz="1400" dirty="0">
                <a:solidFill>
                  <a:schemeClr val="tx1"/>
                </a:solidFill>
              </a:rPr>
              <a:t>Stock</a:t>
            </a:r>
            <a:endParaRPr lang="en-US" sz="1400" dirty="0"/>
          </a:p>
        </p:txBody>
      </p:sp>
      <p:sp>
        <p:nvSpPr>
          <p:cNvPr id="9" name="Check Sales"/>
          <p:cNvSpPr txBox="1"/>
          <p:nvPr/>
        </p:nvSpPr>
        <p:spPr>
          <a:xfrm>
            <a:off x="1645920" y="3246120"/>
            <a:ext cx="731520" cy="347472"/>
          </a:xfrm>
          <a:prstGeom prst="roundRect">
            <a:avLst>
              <a:gd name="adj" fmla="val 50000"/>
            </a:avLst>
          </a:prstGeom>
          <a:solidFill>
            <a:schemeClr val="bg2"/>
          </a:solidFill>
          <a:ln w="9525">
            <a:solidFill>
              <a:srgbClr val="C9D4D6"/>
            </a:solidFill>
          </a:ln>
        </p:spPr>
        <p:txBody>
          <a:bodyPr wrap="square" lIns="0" tIns="0" rIns="0" bIns="0" rtlCol="0" anchor="ctr"/>
          <a:lstStyle/>
          <a:p>
            <a:pPr algn="ctr" indent="0" marL="0">
              <a:buNone/>
            </a:pPr>
            <a:r>
              <a:rPr lang="en-US" sz="1400" dirty="0">
                <a:solidFill>
                  <a:schemeClr val="tx1"/>
                </a:solidFill>
              </a:rPr>
              <a:t>Sales</a:t>
            </a:r>
            <a:endParaRPr lang="en-US" sz="1400" dirty="0"/>
          </a:p>
        </p:txBody>
      </p:sp>
      <p:sp>
        <p:nvSpPr>
          <p:cNvPr id="10" name="Check Promotions"/>
          <p:cNvSpPr txBox="1"/>
          <p:nvPr/>
        </p:nvSpPr>
        <p:spPr>
          <a:xfrm>
            <a:off x="2468880" y="3246120"/>
            <a:ext cx="1188720" cy="347472"/>
          </a:xfrm>
          <a:prstGeom prst="roundRect">
            <a:avLst>
              <a:gd name="adj" fmla="val 50000"/>
            </a:avLst>
          </a:prstGeom>
          <a:solidFill>
            <a:schemeClr val="bg2"/>
          </a:solidFill>
          <a:ln w="9525">
            <a:solidFill>
              <a:srgbClr val="C9D4D6"/>
            </a:solidFill>
          </a:ln>
        </p:spPr>
        <p:txBody>
          <a:bodyPr wrap="square" lIns="0" tIns="0" rIns="0" bIns="0" rtlCol="0" anchor="ctr"/>
          <a:lstStyle/>
          <a:p>
            <a:pPr algn="ctr" indent="0" marL="0">
              <a:buNone/>
            </a:pPr>
            <a:r>
              <a:rPr lang="en-US" sz="1400" dirty="0">
                <a:solidFill>
                  <a:schemeClr val="tx1"/>
                </a:solidFill>
              </a:rPr>
              <a:t>Promotions</a:t>
            </a:r>
            <a:endParaRPr lang="en-US" sz="1400" dirty="0"/>
          </a:p>
        </p:txBody>
      </p:sp>
      <p:sp>
        <p:nvSpPr>
          <p:cNvPr id="11" name="Check Shelf life"/>
          <p:cNvSpPr txBox="1"/>
          <p:nvPr/>
        </p:nvSpPr>
        <p:spPr>
          <a:xfrm>
            <a:off x="822960" y="3703320"/>
            <a:ext cx="1051560" cy="347472"/>
          </a:xfrm>
          <a:prstGeom prst="roundRect">
            <a:avLst>
              <a:gd name="adj" fmla="val 50000"/>
            </a:avLst>
          </a:prstGeom>
          <a:solidFill>
            <a:schemeClr val="bg2"/>
          </a:solidFill>
          <a:ln w="9525">
            <a:solidFill>
              <a:srgbClr val="C9D4D6"/>
            </a:solidFill>
          </a:ln>
        </p:spPr>
        <p:txBody>
          <a:bodyPr wrap="square" lIns="0" tIns="0" rIns="0" bIns="0" rtlCol="0" anchor="ctr"/>
          <a:lstStyle/>
          <a:p>
            <a:pPr algn="ctr" indent="0" marL="0">
              <a:buNone/>
            </a:pPr>
            <a:r>
              <a:rPr lang="en-US" sz="1400" dirty="0">
                <a:solidFill>
                  <a:schemeClr val="tx1"/>
                </a:solidFill>
              </a:rPr>
              <a:t>Shelf life</a:t>
            </a:r>
            <a:endParaRPr lang="en-US" sz="1400" dirty="0"/>
          </a:p>
        </p:txBody>
      </p:sp>
      <p:sp>
        <p:nvSpPr>
          <p:cNvPr id="12" name="Check Budget"/>
          <p:cNvSpPr txBox="1"/>
          <p:nvPr/>
        </p:nvSpPr>
        <p:spPr>
          <a:xfrm>
            <a:off x="1965960" y="3703320"/>
            <a:ext cx="868680" cy="347472"/>
          </a:xfrm>
          <a:prstGeom prst="roundRect">
            <a:avLst>
              <a:gd name="adj" fmla="val 50000"/>
            </a:avLst>
          </a:prstGeom>
          <a:solidFill>
            <a:schemeClr val="bg2"/>
          </a:solidFill>
          <a:ln w="9525">
            <a:solidFill>
              <a:srgbClr val="C9D4D6"/>
            </a:solidFill>
          </a:ln>
        </p:spPr>
        <p:txBody>
          <a:bodyPr wrap="square" lIns="0" tIns="0" rIns="0" bIns="0" rtlCol="0" anchor="ctr"/>
          <a:lstStyle/>
          <a:p>
            <a:pPr algn="ctr" indent="0" marL="0">
              <a:buNone/>
            </a:pPr>
            <a:r>
              <a:rPr lang="en-US" sz="1400" dirty="0">
                <a:solidFill>
                  <a:schemeClr val="tx1"/>
                </a:solidFill>
              </a:rPr>
              <a:t>Budget</a:t>
            </a:r>
            <a:endParaRPr lang="en-US" sz="1400" dirty="0"/>
          </a:p>
        </p:txBody>
      </p:sp>
      <p:sp>
        <p:nvSpPr>
          <p:cNvPr id="13" name="Text 11"/>
          <p:cNvSpPr txBox="1"/>
          <p:nvPr/>
        </p:nvSpPr>
        <p:spPr>
          <a:xfrm>
            <a:off x="822960" y="4526280"/>
            <a:ext cx="2875178" cy="548640"/>
          </a:xfrm>
          <a:prstGeom prst="rect">
            <a:avLst/>
          </a:prstGeom>
          <a:noFill/>
          <a:ln/>
        </p:spPr>
        <p:txBody>
          <a:bodyPr wrap="square" lIns="0" tIns="0" rIns="0" bIns="0" rtlCol="0" anchor="t"/>
          <a:lstStyle/>
          <a:p>
            <a:pPr indent="0" marL="0">
              <a:buNone/>
            </a:pPr>
            <a:r>
              <a:rPr lang="en-US" sz="1500" b="1" dirty="0">
                <a:solidFill>
                  <a:schemeClr val="accent1"/>
                </a:solidFill>
              </a:rPr>
              <a:t>No order is released without approval.</a:t>
            </a:r>
            <a:endParaRPr lang="en-US" sz="1500" dirty="0"/>
          </a:p>
        </p:txBody>
      </p:sp>
      <p:sp>
        <p:nvSpPr>
          <p:cNvPr id="14" name="Shape 12"/>
          <p:cNvSpPr/>
          <p:nvPr/>
        </p:nvSpPr>
        <p:spPr>
          <a:xfrm>
            <a:off x="3972458" y="3360420"/>
            <a:ext cx="365760" cy="0"/>
          </a:xfrm>
          <a:prstGeom prst="line">
            <a:avLst/>
          </a:prstGeom>
          <a:noFill/>
          <a:ln w="19050">
            <a:solidFill>
              <a:schemeClr val="accent6"/>
            </a:solidFill>
            <a:prstDash val="solid"/>
            <a:tailEnd type="triangle"/>
          </a:ln>
        </p:spPr>
      </p:sp>
      <p:sp>
        <p:nvSpPr>
          <p:cNvPr id="15" name="Card If the process fails"/>
          <p:cNvSpPr/>
          <p:nvPr/>
        </p:nvSpPr>
        <p:spPr>
          <a:xfrm>
            <a:off x="4429658" y="1371600"/>
            <a:ext cx="3332378" cy="3977640"/>
          </a:xfrm>
          <a:prstGeom prst="roundRect">
            <a:avLst>
              <a:gd name="adj" fmla="val 2744"/>
            </a:avLst>
          </a:prstGeom>
          <a:solidFill>
            <a:schemeClr val="bg1"/>
          </a:solidFill>
          <a:ln w="12700">
            <a:solidFill>
              <a:srgbClr val="D3DCDE"/>
            </a:solidFill>
            <a:prstDash val="solid"/>
          </a:ln>
          <a:effectLst>
            <a:outerShdw sx="100000" sy="100000" kx="0" ky="0" algn="bl" rotWithShape="0" blurRad="76200" dist="25400" dir="5400000">
              <a:srgbClr val="9AA8AB">
                <a:alpha val="25000"/>
              </a:srgbClr>
            </a:outerShdw>
          </a:effectLst>
        </p:spPr>
      </p:sp>
      <p:sp>
        <p:nvSpPr>
          <p:cNvPr id="16" name="Step number 2"/>
          <p:cNvSpPr txBox="1"/>
          <p:nvPr/>
        </p:nvSpPr>
        <p:spPr>
          <a:xfrm>
            <a:off x="4685690" y="1627632"/>
            <a:ext cx="457200" cy="457200"/>
          </a:xfrm>
          <a:prstGeom prst="ellipse">
            <a:avLst/>
          </a:prstGeom>
          <a:solidFill>
            <a:schemeClr val="accent5"/>
          </a:solidFill>
          <a:ln>
            <a:solidFill>
              <a:schemeClr val="accent5"/>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Text 15"/>
          <p:cNvSpPr txBox="1"/>
          <p:nvPr/>
        </p:nvSpPr>
        <p:spPr>
          <a:xfrm>
            <a:off x="5298338" y="1627632"/>
            <a:ext cx="2326538" cy="457200"/>
          </a:xfrm>
          <a:prstGeom prst="rect">
            <a:avLst/>
          </a:prstGeom>
          <a:noFill/>
          <a:ln/>
        </p:spPr>
        <p:txBody>
          <a:bodyPr wrap="square" lIns="0" tIns="0" rIns="0" bIns="0" rtlCol="0" anchor="ctr"/>
          <a:lstStyle/>
          <a:p>
            <a:pPr indent="0" marL="0">
              <a:buNone/>
            </a:pPr>
            <a:r>
              <a:rPr lang="en-US" sz="2100" b="1" dirty="0">
                <a:solidFill>
                  <a:schemeClr val="tx2"/>
                </a:solidFill>
              </a:rPr>
              <a:t>If the process fails</a:t>
            </a:r>
            <a:endParaRPr lang="en-US" sz="2100" dirty="0"/>
          </a:p>
        </p:txBody>
      </p:sp>
      <p:sp>
        <p:nvSpPr>
          <p:cNvPr id="18" name="Text 16"/>
          <p:cNvSpPr txBox="1"/>
          <p:nvPr/>
        </p:nvSpPr>
        <p:spPr>
          <a:xfrm>
            <a:off x="4703978" y="2286000"/>
            <a:ext cx="2829458" cy="777240"/>
          </a:xfrm>
          <a:prstGeom prst="rect">
            <a:avLst/>
          </a:prstGeom>
          <a:noFill/>
          <a:ln/>
        </p:spPr>
        <p:txBody>
          <a:bodyPr wrap="square" lIns="0" tIns="0" rIns="0" bIns="0" rtlCol="0" anchor="t"/>
          <a:lstStyle/>
          <a:p>
            <a:pPr indent="0" marL="0">
              <a:buNone/>
            </a:pPr>
            <a:r>
              <a:rPr lang="en-US" sz="1600" dirty="0">
                <a:solidFill>
                  <a:schemeClr val="tx1"/>
                </a:solidFill>
              </a:rPr>
              <a:t>Stop the affected recommendation. Alert the category manager.</a:t>
            </a:r>
            <a:endParaRPr lang="en-US" sz="1600" dirty="0"/>
          </a:p>
        </p:txBody>
      </p:sp>
      <p:sp>
        <p:nvSpPr>
          <p:cNvPr id="19" name="Route icon Supply issue"/>
          <p:cNvSpPr/>
          <p:nvPr/>
        </p:nvSpPr>
        <p:spPr>
          <a:xfrm>
            <a:off x="4703978" y="3291840"/>
            <a:ext cx="457200" cy="457200"/>
          </a:xfrm>
          <a:prstGeom prst="ellipse">
            <a:avLst/>
          </a:prstGeom>
          <a:solidFill>
            <a:schemeClr val="accent5"/>
          </a:solidFill>
          <a:ln w="12700">
            <a:solidFill>
              <a:schemeClr val="accent5"/>
            </a:solidFill>
            <a:prstDash val="solid"/>
          </a:ln>
        </p:spPr>
      </p:sp>
      <p:pic>
        <p:nvPicPr>
          <p:cNvPr id="20" name="Image 0" descr="preencoded.png">    </p:cNvPr>
          <p:cNvPicPr>
            <a:picLocks noChangeAspect="1"/>
          </p:cNvPicPr>
          <p:nvPr/>
        </p:nvPicPr>
        <p:blipFill>
          <a:blip r:embed="rId1"/>
          <a:stretch>
            <a:fillRect/>
          </a:stretch>
        </p:blipFill>
        <p:spPr>
          <a:xfrm>
            <a:off x="4813706" y="3401568"/>
            <a:ext cx="237744" cy="237744"/>
          </a:xfrm>
          <a:prstGeom prst="rect">
            <a:avLst/>
          </a:prstGeom>
        </p:spPr>
      </p:pic>
      <p:sp>
        <p:nvSpPr>
          <p:cNvPr id="21" name="Text 18"/>
          <p:cNvSpPr txBox="1"/>
          <p:nvPr/>
        </p:nvSpPr>
        <p:spPr>
          <a:xfrm>
            <a:off x="5298338" y="3246120"/>
            <a:ext cx="2280818" cy="274320"/>
          </a:xfrm>
          <a:prstGeom prst="rect">
            <a:avLst/>
          </a:prstGeom>
          <a:noFill/>
          <a:ln/>
        </p:spPr>
        <p:txBody>
          <a:bodyPr wrap="square" lIns="0" tIns="0" rIns="0" bIns="0" rtlCol="0" anchor="t"/>
          <a:lstStyle/>
          <a:p>
            <a:pPr indent="0" marL="0">
              <a:buNone/>
            </a:pPr>
            <a:r>
              <a:rPr lang="en-US" sz="1500" b="1" dirty="0">
                <a:solidFill>
                  <a:schemeClr val="tx2"/>
                </a:solidFill>
              </a:rPr>
              <a:t>Supply issue</a:t>
            </a:r>
            <a:endParaRPr lang="en-US" sz="1500" dirty="0"/>
          </a:p>
        </p:txBody>
      </p:sp>
      <p:sp>
        <p:nvSpPr>
          <p:cNvPr id="22" name="Text 19"/>
          <p:cNvSpPr txBox="1"/>
          <p:nvPr/>
        </p:nvSpPr>
        <p:spPr>
          <a:xfrm>
            <a:off x="5298338" y="3529584"/>
            <a:ext cx="2280818" cy="274320"/>
          </a:xfrm>
          <a:prstGeom prst="rect">
            <a:avLst/>
          </a:prstGeom>
          <a:noFill/>
          <a:ln/>
        </p:spPr>
        <p:txBody>
          <a:bodyPr wrap="square" lIns="0" tIns="0" rIns="0" bIns="0" rtlCol="0" anchor="t"/>
          <a:lstStyle/>
          <a:p>
            <a:pPr indent="0" marL="0">
              <a:buNone/>
            </a:pPr>
            <a:r>
              <a:rPr lang="en-US" sz="1500" dirty="0">
                <a:solidFill>
                  <a:schemeClr val="tx1"/>
                </a:solidFill>
              </a:rPr>
              <a:t>→ supply-chain lead</a:t>
            </a:r>
            <a:endParaRPr lang="en-US" sz="1500" dirty="0"/>
          </a:p>
        </p:txBody>
      </p:sp>
      <p:sp>
        <p:nvSpPr>
          <p:cNvPr id="23" name="Route icon Technical fault"/>
          <p:cNvSpPr/>
          <p:nvPr/>
        </p:nvSpPr>
        <p:spPr>
          <a:xfrm>
            <a:off x="4703978" y="4069080"/>
            <a:ext cx="457200" cy="457200"/>
          </a:xfrm>
          <a:prstGeom prst="ellipse">
            <a:avLst/>
          </a:prstGeom>
          <a:solidFill>
            <a:schemeClr val="accent5"/>
          </a:solidFill>
          <a:ln w="12700">
            <a:solidFill>
              <a:schemeClr val="accent5"/>
            </a:solidFill>
            <a:prstDash val="solid"/>
          </a:ln>
        </p:spPr>
      </p:sp>
      <p:pic>
        <p:nvPicPr>
          <p:cNvPr id="24" name="Image 1" descr="preencoded.png">    </p:cNvPr>
          <p:cNvPicPr>
            <a:picLocks noChangeAspect="1"/>
          </p:cNvPicPr>
          <p:nvPr/>
        </p:nvPicPr>
        <p:blipFill>
          <a:blip r:embed="rId2"/>
          <a:stretch>
            <a:fillRect/>
          </a:stretch>
        </p:blipFill>
        <p:spPr>
          <a:xfrm>
            <a:off x="4813706" y="4178808"/>
            <a:ext cx="237744" cy="237744"/>
          </a:xfrm>
          <a:prstGeom prst="rect">
            <a:avLst/>
          </a:prstGeom>
        </p:spPr>
      </p:pic>
      <p:sp>
        <p:nvSpPr>
          <p:cNvPr id="25" name="Text 21"/>
          <p:cNvSpPr txBox="1"/>
          <p:nvPr/>
        </p:nvSpPr>
        <p:spPr>
          <a:xfrm>
            <a:off x="5298338" y="4023360"/>
            <a:ext cx="2280818" cy="274320"/>
          </a:xfrm>
          <a:prstGeom prst="rect">
            <a:avLst/>
          </a:prstGeom>
          <a:noFill/>
          <a:ln/>
        </p:spPr>
        <p:txBody>
          <a:bodyPr wrap="square" lIns="0" tIns="0" rIns="0" bIns="0" rtlCol="0" anchor="t"/>
          <a:lstStyle/>
          <a:p>
            <a:pPr indent="0" marL="0">
              <a:buNone/>
            </a:pPr>
            <a:r>
              <a:rPr lang="en-US" sz="1500" b="1" dirty="0">
                <a:solidFill>
                  <a:schemeClr val="tx2"/>
                </a:solidFill>
              </a:rPr>
              <a:t>Technical fault</a:t>
            </a:r>
            <a:endParaRPr lang="en-US" sz="1500" dirty="0"/>
          </a:p>
        </p:txBody>
      </p:sp>
      <p:sp>
        <p:nvSpPr>
          <p:cNvPr id="26" name="Text 22"/>
          <p:cNvSpPr txBox="1"/>
          <p:nvPr/>
        </p:nvSpPr>
        <p:spPr>
          <a:xfrm>
            <a:off x="5298338" y="4306824"/>
            <a:ext cx="2280818" cy="274320"/>
          </a:xfrm>
          <a:prstGeom prst="rect">
            <a:avLst/>
          </a:prstGeom>
          <a:noFill/>
          <a:ln/>
        </p:spPr>
        <p:txBody>
          <a:bodyPr wrap="square" lIns="0" tIns="0" rIns="0" bIns="0" rtlCol="0" anchor="t"/>
          <a:lstStyle/>
          <a:p>
            <a:pPr indent="0" marL="0">
              <a:buNone/>
            </a:pPr>
            <a:r>
              <a:rPr lang="en-US" sz="1500" dirty="0">
                <a:solidFill>
                  <a:schemeClr val="tx1"/>
                </a:solidFill>
              </a:rPr>
              <a:t>→ IT</a:t>
            </a:r>
            <a:endParaRPr lang="en-US" sz="1500" dirty="0"/>
          </a:p>
        </p:txBody>
      </p:sp>
      <p:sp>
        <p:nvSpPr>
          <p:cNvPr id="27" name="Shape 23"/>
          <p:cNvSpPr/>
          <p:nvPr/>
        </p:nvSpPr>
        <p:spPr>
          <a:xfrm>
            <a:off x="7853477" y="3360420"/>
            <a:ext cx="365760" cy="0"/>
          </a:xfrm>
          <a:prstGeom prst="line">
            <a:avLst/>
          </a:prstGeom>
          <a:noFill/>
          <a:ln w="19050">
            <a:solidFill>
              <a:schemeClr val="accent6"/>
            </a:solidFill>
            <a:prstDash val="solid"/>
            <a:tailEnd type="triangle"/>
          </a:ln>
        </p:spPr>
      </p:sp>
      <p:sp>
        <p:nvSpPr>
          <p:cNvPr id="28" name="Card Manual fallback"/>
          <p:cNvSpPr/>
          <p:nvPr/>
        </p:nvSpPr>
        <p:spPr>
          <a:xfrm>
            <a:off x="8310677" y="1371600"/>
            <a:ext cx="3332378" cy="3977640"/>
          </a:xfrm>
          <a:prstGeom prst="roundRect">
            <a:avLst>
              <a:gd name="adj" fmla="val 2744"/>
            </a:avLst>
          </a:prstGeom>
          <a:solidFill>
            <a:schemeClr val="bg1"/>
          </a:solidFill>
          <a:ln w="12700">
            <a:solidFill>
              <a:srgbClr val="D3DCDE"/>
            </a:solidFill>
            <a:prstDash val="solid"/>
          </a:ln>
          <a:effectLst>
            <a:outerShdw sx="100000" sy="100000" kx="0" ky="0" algn="bl" rotWithShape="0" blurRad="76200" dist="25400" dir="5400000">
              <a:srgbClr val="9AA8AB">
                <a:alpha val="25000"/>
              </a:srgbClr>
            </a:outerShdw>
          </a:effectLst>
        </p:spPr>
      </p:sp>
      <p:sp>
        <p:nvSpPr>
          <p:cNvPr id="29" name="Step number 3"/>
          <p:cNvSpPr txBox="1"/>
          <p:nvPr/>
        </p:nvSpPr>
        <p:spPr>
          <a:xfrm>
            <a:off x="8566709" y="1627632"/>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0" name="Text 26"/>
          <p:cNvSpPr txBox="1"/>
          <p:nvPr/>
        </p:nvSpPr>
        <p:spPr>
          <a:xfrm>
            <a:off x="9179357" y="1627632"/>
            <a:ext cx="2326538" cy="457200"/>
          </a:xfrm>
          <a:prstGeom prst="rect">
            <a:avLst/>
          </a:prstGeom>
          <a:noFill/>
          <a:ln/>
        </p:spPr>
        <p:txBody>
          <a:bodyPr wrap="square" lIns="0" tIns="0" rIns="0" bIns="0" rtlCol="0" anchor="ctr"/>
          <a:lstStyle/>
          <a:p>
            <a:pPr indent="0" marL="0">
              <a:buNone/>
            </a:pPr>
            <a:r>
              <a:rPr lang="en-US" sz="2100" b="1" dirty="0">
                <a:solidFill>
                  <a:schemeClr val="tx2"/>
                </a:solidFill>
              </a:rPr>
              <a:t>Manual fallback</a:t>
            </a:r>
            <a:endParaRPr lang="en-US" sz="2100" dirty="0"/>
          </a:p>
        </p:txBody>
      </p:sp>
      <p:sp>
        <p:nvSpPr>
          <p:cNvPr id="31" name="Fallback step 1"/>
          <p:cNvSpPr txBox="1"/>
          <p:nvPr/>
        </p:nvSpPr>
        <p:spPr>
          <a:xfrm>
            <a:off x="8584997" y="2286000"/>
            <a:ext cx="2783738" cy="658368"/>
          </a:xfrm>
          <a:prstGeom prst="roundRect">
            <a:avLst>
              <a:gd name="adj" fmla="val 8333"/>
            </a:avLst>
          </a:prstGeom>
          <a:solidFill>
            <a:schemeClr val="bg2"/>
          </a:solidFill>
          <a:ln w="9525">
            <a:solidFill>
              <a:srgbClr val="C9D4D6"/>
            </a:solidFill>
          </a:ln>
        </p:spPr>
        <p:txBody>
          <a:bodyPr wrap="square" lIns="25400" tIns="25400" rIns="25400" bIns="25400" rtlCol="0" anchor="ctr"/>
          <a:lstStyle/>
          <a:p>
            <a:pPr algn="ctr" indent="0" marL="0">
              <a:buNone/>
            </a:pPr>
            <a:r>
              <a:rPr lang="en-US" sz="1500" dirty="0">
                <a:solidFill>
                  <a:schemeClr val="tx1"/>
                </a:solidFill>
              </a:rPr>
              <a:t>Physical count +</a:t>
            </a:r>
            <a:endParaRPr lang="en-US" sz="1500" dirty="0"/>
          </a:p>
          <a:p>
            <a:pPr algn="ctr" indent="0" marL="0">
              <a:buNone/>
            </a:pPr>
            <a:r>
              <a:rPr lang="en-US" sz="1500" dirty="0">
                <a:solidFill>
                  <a:schemeClr val="tx1"/>
                </a:solidFill>
              </a:rPr>
              <a:t>verified sales</a:t>
            </a:r>
            <a:endParaRPr lang="en-US" sz="1500" dirty="0"/>
          </a:p>
        </p:txBody>
      </p:sp>
      <p:sp>
        <p:nvSpPr>
          <p:cNvPr id="32" name="Shape 28"/>
          <p:cNvSpPr/>
          <p:nvPr/>
        </p:nvSpPr>
        <p:spPr>
          <a:xfrm>
            <a:off x="9976866" y="2980944"/>
            <a:ext cx="0" cy="256032"/>
          </a:xfrm>
          <a:prstGeom prst="line">
            <a:avLst/>
          </a:prstGeom>
          <a:noFill/>
          <a:ln w="19050">
            <a:solidFill>
              <a:schemeClr val="accent6"/>
            </a:solidFill>
            <a:prstDash val="solid"/>
            <a:tailEnd type="triangle"/>
          </a:ln>
        </p:spPr>
      </p:sp>
      <p:sp>
        <p:nvSpPr>
          <p:cNvPr id="33" name="Fallback step 2"/>
          <p:cNvSpPr txBox="1"/>
          <p:nvPr/>
        </p:nvSpPr>
        <p:spPr>
          <a:xfrm>
            <a:off x="8584997" y="3273552"/>
            <a:ext cx="2783738" cy="658368"/>
          </a:xfrm>
          <a:prstGeom prst="roundRect">
            <a:avLst>
              <a:gd name="adj" fmla="val 8333"/>
            </a:avLst>
          </a:prstGeom>
          <a:solidFill>
            <a:schemeClr val="bg2"/>
          </a:solidFill>
          <a:ln w="9525">
            <a:solidFill>
              <a:srgbClr val="C9D4D6"/>
            </a:solidFill>
          </a:ln>
        </p:spPr>
        <p:txBody>
          <a:bodyPr wrap="square" lIns="25400" tIns="25400" rIns="25400" bIns="25400" rtlCol="0" anchor="ctr"/>
          <a:lstStyle/>
          <a:p>
            <a:pPr algn="ctr" indent="0" marL="0">
              <a:buNone/>
            </a:pPr>
            <a:r>
              <a:rPr lang="en-US" sz="1500" dirty="0">
                <a:solidFill>
                  <a:schemeClr val="tx1"/>
                </a:solidFill>
              </a:rPr>
              <a:t>Manual order</a:t>
            </a:r>
            <a:endParaRPr lang="en-US" sz="1500" dirty="0"/>
          </a:p>
        </p:txBody>
      </p:sp>
      <p:sp>
        <p:nvSpPr>
          <p:cNvPr id="34" name="Shape 30"/>
          <p:cNvSpPr/>
          <p:nvPr/>
        </p:nvSpPr>
        <p:spPr>
          <a:xfrm>
            <a:off x="9976866" y="3968496"/>
            <a:ext cx="0" cy="256032"/>
          </a:xfrm>
          <a:prstGeom prst="line">
            <a:avLst/>
          </a:prstGeom>
          <a:noFill/>
          <a:ln w="19050">
            <a:solidFill>
              <a:schemeClr val="accent6"/>
            </a:solidFill>
            <a:prstDash val="solid"/>
            <a:tailEnd type="triangle"/>
          </a:ln>
        </p:spPr>
      </p:sp>
      <p:sp>
        <p:nvSpPr>
          <p:cNvPr id="35" name="Fallback step 3"/>
          <p:cNvSpPr txBox="1"/>
          <p:nvPr/>
        </p:nvSpPr>
        <p:spPr>
          <a:xfrm>
            <a:off x="8584997" y="4261104"/>
            <a:ext cx="2783738" cy="658368"/>
          </a:xfrm>
          <a:prstGeom prst="roundRect">
            <a:avLst>
              <a:gd name="adj" fmla="val 8333"/>
            </a:avLst>
          </a:prstGeom>
          <a:solidFill>
            <a:schemeClr val="accent1"/>
          </a:solidFill>
          <a:ln w="9525">
            <a:solidFill>
              <a:schemeClr val="accent1"/>
            </a:solidFill>
          </a:ln>
        </p:spPr>
        <p:txBody>
          <a:bodyPr wrap="square" lIns="25400" tIns="25400" rIns="25400" bIns="25400" rtlCol="0" anchor="ctr"/>
          <a:lstStyle/>
          <a:p>
            <a:pPr algn="ctr" indent="0" marL="0">
              <a:buNone/>
            </a:pPr>
            <a:r>
              <a:rPr lang="en-US" sz="1500" b="1" dirty="0">
                <a:solidFill>
                  <a:schemeClr val="bg1"/>
                </a:solidFill>
              </a:rPr>
              <a:t>Same category</a:t>
            </a:r>
            <a:endParaRPr lang="en-US" sz="1500" dirty="0"/>
          </a:p>
          <a:p>
            <a:pPr algn="ctr" indent="0" marL="0">
              <a:buNone/>
            </a:pPr>
            <a:r>
              <a:rPr lang="en-US" sz="1500" b="1" dirty="0">
                <a:solidFill>
                  <a:schemeClr val="bg1"/>
                </a:solidFill>
              </a:rPr>
              <a:t>manager approves</a:t>
            </a:r>
            <a:endParaRPr lang="en-US" sz="1500" dirty="0"/>
          </a:p>
        </p:txBody>
      </p:sp>
      <p:sp>
        <p:nvSpPr>
          <p:cNvPr id="36" name="Basis strip"/>
          <p:cNvSpPr txBox="1"/>
          <p:nvPr/>
        </p:nvSpPr>
        <p:spPr>
          <a:xfrm>
            <a:off x="548640" y="5623560"/>
            <a:ext cx="11094415" cy="457200"/>
          </a:xfrm>
          <a:prstGeom prst="roundRect">
            <a:avLst>
              <a:gd name="adj" fmla="val 16000"/>
            </a:avLst>
          </a:prstGeom>
          <a:solidFill>
            <a:schemeClr val="bg2"/>
          </a:solidFill>
          <a:ln>
            <a:solidFill>
              <a:schemeClr val="bg2"/>
            </a:solidFill>
          </a:ln>
        </p:spPr>
        <p:txBody>
          <a:bodyPr wrap="square" lIns="177800" tIns="0" rIns="177800" bIns="0" rtlCol="0" anchor="ctr"/>
          <a:lstStyle/>
          <a:p>
            <a:pPr indent="0" marL="0">
              <a:buNone/>
            </a:pPr>
            <a:r>
              <a:rPr lang="en-US" sz="1400" b="1" dirty="0">
                <a:solidFill>
                  <a:schemeClr val="tx2"/>
                </a:solidFill>
              </a:rPr>
              <a:t>Basis [4]:  </a:t>
            </a:r>
            <a:pPr indent="0" marL="0">
              <a:buNone/>
            </a:pPr>
            <a:r>
              <a:rPr lang="en-US" sz="1400" dirty="0">
                <a:solidFill>
                  <a:schemeClr val="tx1"/>
                </a:solidFill>
              </a:rPr>
              <a:t>NIST AI RMF 1.0 supports defined oversight, staff training and a non-AI alternative.</a:t>
            </a:r>
            <a:endParaRPr lang="en-US" sz="1400" dirty="0"/>
          </a:p>
        </p:txBody>
      </p:sp>
      <p:sp>
        <p:nvSpPr>
          <p:cNvPr id="37" name="Text 33"/>
          <p:cNvSpPr txBox="1"/>
          <p:nvPr/>
        </p:nvSpPr>
        <p:spPr>
          <a:xfrm>
            <a:off x="548640" y="6382512"/>
            <a:ext cx="10424160" cy="274320"/>
          </a:xfrm>
          <a:prstGeom prst="rect">
            <a:avLst/>
          </a:prstGeom>
          <a:noFill/>
          <a:ln/>
        </p:spPr>
        <p:txBody>
          <a:bodyPr wrap="square" lIns="0" tIns="0" rIns="0" bIns="0" rtlCol="0" anchor="ctr"/>
          <a:lstStyle/>
          <a:p>
            <a:pPr indent="0" marL="0">
              <a:buNone/>
            </a:pPr>
            <a:r>
              <a:rPr lang="en-US" sz="1000" dirty="0">
                <a:solidFill>
                  <a:schemeClr val="accent6"/>
                </a:solidFill>
              </a:rPr>
              <a:t>Roles and escalation routes are proposals for the pilot.</a:t>
            </a:r>
            <a:endParaRPr lang="en-US" sz="10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Carrefour evidence and Magnum’s decision</a:t>
            </a:r>
            <a:endParaRPr lang="en-US" sz="3400" dirty="0"/>
          </a:p>
        </p:txBody>
      </p:sp>
      <p:sp>
        <p:nvSpPr>
          <p:cNvPr id="3" name="Carrefour card"/>
          <p:cNvSpPr/>
          <p:nvPr/>
        </p:nvSpPr>
        <p:spPr>
          <a:xfrm>
            <a:off x="548640" y="1371600"/>
            <a:ext cx="5257800" cy="4206240"/>
          </a:xfrm>
          <a:prstGeom prst="roundRect">
            <a:avLst>
              <a:gd name="adj" fmla="val 2174"/>
            </a:avLst>
          </a:prstGeom>
          <a:solidFill>
            <a:schemeClr val="bg2"/>
          </a:solidFill>
          <a:ln w="12700">
            <a:solidFill>
              <a:schemeClr val="bg2"/>
            </a:solidFill>
            <a:prstDash val="solid"/>
          </a:ln>
        </p:spPr>
      </p:sp>
      <p:sp>
        <p:nvSpPr>
          <p:cNvPr id="4" name="Text 2"/>
          <p:cNvSpPr txBox="1"/>
          <p:nvPr/>
        </p:nvSpPr>
        <p:spPr>
          <a:xfrm>
            <a:off x="868680" y="1627632"/>
            <a:ext cx="4572000" cy="274320"/>
          </a:xfrm>
          <a:prstGeom prst="rect">
            <a:avLst/>
          </a:prstGeom>
          <a:noFill/>
          <a:ln/>
        </p:spPr>
        <p:txBody>
          <a:bodyPr wrap="square" lIns="0" tIns="0" rIns="0" bIns="0" rtlCol="0" anchor="t"/>
          <a:lstStyle/>
          <a:p>
            <a:pPr indent="0" marL="0">
              <a:buNone/>
            </a:pPr>
            <a:r>
              <a:rPr lang="en-US" sz="1200" b="1" spc="150" kern="0" dirty="0">
                <a:solidFill>
                  <a:schemeClr val="accent6"/>
                </a:solidFill>
              </a:rPr>
              <a:t>COMPANY A  ·  CARREFOUR</a:t>
            </a:r>
            <a:endParaRPr lang="en-US" sz="1200" dirty="0"/>
          </a:p>
        </p:txBody>
      </p:sp>
      <p:sp>
        <p:nvSpPr>
          <p:cNvPr id="5" name="Text 3"/>
          <p:cNvSpPr txBox="1"/>
          <p:nvPr/>
        </p:nvSpPr>
        <p:spPr>
          <a:xfrm>
            <a:off x="868680" y="1938528"/>
            <a:ext cx="4754880" cy="868680"/>
          </a:xfrm>
          <a:prstGeom prst="rect">
            <a:avLst/>
          </a:prstGeom>
          <a:noFill/>
          <a:ln/>
        </p:spPr>
        <p:txBody>
          <a:bodyPr wrap="square" lIns="0" tIns="0" rIns="0" bIns="0" rtlCol="0" anchor="ctr"/>
          <a:lstStyle/>
          <a:p>
            <a:pPr indent="0" marL="0">
              <a:buNone/>
            </a:pPr>
            <a:r>
              <a:rPr lang="en-US" sz="5400" b="1" dirty="0">
                <a:solidFill>
                  <a:schemeClr val="tx2"/>
                </a:solidFill>
                <a:latin typeface="Cambria" pitchFamily="34" charset="0"/>
                <a:ea typeface="Cambria" pitchFamily="34" charset="-122"/>
                <a:cs typeface="Cambria" pitchFamily="34" charset="-120"/>
              </a:rPr>
              <a:t>18 months</a:t>
            </a:r>
            <a:endParaRPr lang="en-US" sz="5400" dirty="0"/>
          </a:p>
        </p:txBody>
      </p:sp>
      <p:sp>
        <p:nvSpPr>
          <p:cNvPr id="6" name="Text 4"/>
          <p:cNvSpPr txBox="1"/>
          <p:nvPr/>
        </p:nvSpPr>
        <p:spPr>
          <a:xfrm>
            <a:off x="868680" y="2834640"/>
            <a:ext cx="4663440" cy="685800"/>
          </a:xfrm>
          <a:prstGeom prst="rect">
            <a:avLst/>
          </a:prstGeom>
          <a:noFill/>
          <a:ln/>
        </p:spPr>
        <p:txBody>
          <a:bodyPr wrap="square" lIns="0" tIns="0" rIns="0" bIns="0" rtlCol="0" anchor="t"/>
          <a:lstStyle/>
          <a:p>
            <a:pPr indent="0" marL="0">
              <a:buNone/>
            </a:pPr>
            <a:r>
              <a:rPr lang="en-US" sz="1800" dirty="0">
                <a:solidFill>
                  <a:schemeClr val="tx1"/>
                </a:solidFill>
              </a:rPr>
              <a:t>of testing before Carrefour</a:t>
            </a:r>
            <a:endParaRPr lang="en-US" sz="1800" dirty="0"/>
          </a:p>
          <a:p>
            <a:pPr indent="0" marL="0">
              <a:buNone/>
            </a:pPr>
            <a:r>
              <a:rPr lang="en-US" sz="1800" dirty="0">
                <a:solidFill>
                  <a:schemeClr val="tx1"/>
                </a:solidFill>
              </a:rPr>
              <a:t>selected SAS forecasting</a:t>
            </a:r>
            <a:endParaRPr lang="en-US" sz="1800" dirty="0"/>
          </a:p>
        </p:txBody>
      </p:sp>
      <p:pic>
        <p:nvPicPr>
          <p:cNvPr id="7" name="Image 0" descr="preencoded.png">    </p:cNvPr>
          <p:cNvPicPr>
            <a:picLocks noChangeAspect="1"/>
          </p:cNvPicPr>
          <p:nvPr/>
        </p:nvPicPr>
        <p:blipFill>
          <a:blip r:embed="rId1"/>
          <a:stretch>
            <a:fillRect/>
          </a:stretch>
        </p:blipFill>
        <p:spPr>
          <a:xfrm>
            <a:off x="886968" y="3721608"/>
            <a:ext cx="237744" cy="237744"/>
          </a:xfrm>
          <a:prstGeom prst="rect">
            <a:avLst/>
          </a:prstGeom>
        </p:spPr>
      </p:pic>
      <p:sp>
        <p:nvSpPr>
          <p:cNvPr id="8" name="Text 5"/>
          <p:cNvSpPr txBox="1"/>
          <p:nvPr/>
        </p:nvSpPr>
        <p:spPr>
          <a:xfrm>
            <a:off x="1280160" y="3657600"/>
            <a:ext cx="4297680" cy="365760"/>
          </a:xfrm>
          <a:prstGeom prst="rect">
            <a:avLst/>
          </a:prstGeom>
          <a:noFill/>
          <a:ln/>
        </p:spPr>
        <p:txBody>
          <a:bodyPr wrap="square" lIns="0" tIns="0" rIns="0" bIns="0" rtlCol="0" anchor="ctr"/>
          <a:lstStyle/>
          <a:p>
            <a:pPr indent="0" marL="0">
              <a:buNone/>
            </a:pPr>
            <a:r>
              <a:rPr lang="en-US" sz="1600" dirty="0">
                <a:solidFill>
                  <a:schemeClr val="tx1"/>
                </a:solidFill>
              </a:rPr>
              <a:t>Store, warehouse and online data</a:t>
            </a:r>
            <a:endParaRPr lang="en-US" sz="1600" dirty="0"/>
          </a:p>
        </p:txBody>
      </p:sp>
      <p:pic>
        <p:nvPicPr>
          <p:cNvPr id="9" name="Image 1" descr="preencoded.png">    </p:cNvPr>
          <p:cNvPicPr>
            <a:picLocks noChangeAspect="1"/>
          </p:cNvPicPr>
          <p:nvPr/>
        </p:nvPicPr>
        <p:blipFill>
          <a:blip r:embed="rId2"/>
          <a:stretch>
            <a:fillRect/>
          </a:stretch>
        </p:blipFill>
        <p:spPr>
          <a:xfrm>
            <a:off x="886968" y="4206240"/>
            <a:ext cx="237744" cy="237744"/>
          </a:xfrm>
          <a:prstGeom prst="rect">
            <a:avLst/>
          </a:prstGeom>
        </p:spPr>
      </p:pic>
      <p:sp>
        <p:nvSpPr>
          <p:cNvPr id="10" name="Text 6"/>
          <p:cNvSpPr txBox="1"/>
          <p:nvPr/>
        </p:nvSpPr>
        <p:spPr>
          <a:xfrm>
            <a:off x="1280160" y="4142232"/>
            <a:ext cx="4297680" cy="365760"/>
          </a:xfrm>
          <a:prstGeom prst="rect">
            <a:avLst/>
          </a:prstGeom>
          <a:noFill/>
          <a:ln/>
        </p:spPr>
        <p:txBody>
          <a:bodyPr wrap="square" lIns="0" tIns="0" rIns="0" bIns="0" rtlCol="0" anchor="ctr"/>
          <a:lstStyle/>
          <a:p>
            <a:pPr indent="0" marL="0">
              <a:buNone/>
            </a:pPr>
            <a:r>
              <a:rPr lang="en-US" sz="1600" dirty="0">
                <a:solidFill>
                  <a:schemeClr val="tx1"/>
                </a:solidFill>
              </a:rPr>
              <a:t>SAS announcement, 14 January 2019</a:t>
            </a:r>
            <a:endParaRPr lang="en-US" sz="1600" dirty="0"/>
          </a:p>
        </p:txBody>
      </p:sp>
      <p:sp>
        <p:nvSpPr>
          <p:cNvPr id="11" name="Text 7"/>
          <p:cNvSpPr txBox="1"/>
          <p:nvPr/>
        </p:nvSpPr>
        <p:spPr>
          <a:xfrm>
            <a:off x="868680" y="4773168"/>
            <a:ext cx="4663440" cy="594360"/>
          </a:xfrm>
          <a:prstGeom prst="rect">
            <a:avLst/>
          </a:prstGeom>
          <a:noFill/>
          <a:ln/>
        </p:spPr>
        <p:txBody>
          <a:bodyPr wrap="square" lIns="0" tIns="0" rIns="0" bIns="0" rtlCol="0" anchor="t"/>
          <a:lstStyle/>
          <a:p>
            <a:pPr indent="0" marL="0">
              <a:buNone/>
            </a:pPr>
            <a:r>
              <a:rPr lang="en-US" sz="1500" i="1" dirty="0">
                <a:solidFill>
                  <a:schemeClr val="accent6"/>
                </a:solidFill>
              </a:rPr>
              <a:t>Describes intended improvements — not a measured return for Magnum.</a:t>
            </a:r>
            <a:endParaRPr lang="en-US" sz="1500" dirty="0"/>
          </a:p>
        </p:txBody>
      </p:sp>
      <p:sp>
        <p:nvSpPr>
          <p:cNvPr id="12" name="Text 8"/>
          <p:cNvSpPr txBox="1"/>
          <p:nvPr/>
        </p:nvSpPr>
        <p:spPr>
          <a:xfrm>
            <a:off x="6355080" y="1627632"/>
            <a:ext cx="5287975" cy="274320"/>
          </a:xfrm>
          <a:prstGeom prst="rect">
            <a:avLst/>
          </a:prstGeom>
          <a:noFill/>
          <a:ln/>
        </p:spPr>
        <p:txBody>
          <a:bodyPr wrap="square" lIns="0" tIns="0" rIns="0" bIns="0" rtlCol="0" anchor="t"/>
          <a:lstStyle/>
          <a:p>
            <a:pPr indent="0" marL="0">
              <a:buNone/>
            </a:pPr>
            <a:r>
              <a:rPr lang="en-US" sz="1200" b="1" spc="150" kern="0" dirty="0">
                <a:solidFill>
                  <a:schemeClr val="accent6"/>
                </a:solidFill>
              </a:rPr>
              <a:t>COMPANY B  ·  MAGNUM — MY VERDICT</a:t>
            </a:r>
            <a:endParaRPr lang="en-US" sz="1200" dirty="0"/>
          </a:p>
        </p:txBody>
      </p:sp>
      <p:sp>
        <p:nvSpPr>
          <p:cNvPr id="13" name="Verdict ADOPT"/>
          <p:cNvSpPr txBox="1"/>
          <p:nvPr/>
        </p:nvSpPr>
        <p:spPr>
          <a:xfrm>
            <a:off x="6355080" y="2057400"/>
            <a:ext cx="969813" cy="566928"/>
          </a:xfrm>
          <a:prstGeom prst="roundRect">
            <a:avLst>
              <a:gd name="adj" fmla="val 16129"/>
            </a:avLst>
          </a:prstGeom>
          <a:solidFill>
            <a:schemeClr val="bg1"/>
          </a:solidFill>
          <a:ln w="12700">
            <a:solidFill>
              <a:srgbClr val="C9D4D6"/>
            </a:solidFill>
            <a:prstDash val="solid"/>
          </a:ln>
        </p:spPr>
        <p:txBody>
          <a:bodyPr wrap="square" lIns="0" tIns="0" rIns="0" bIns="0" rtlCol="0" anchor="ctr"/>
          <a:lstStyle/>
          <a:p>
            <a:pPr algn="ctr" indent="0" marL="0">
              <a:buNone/>
            </a:pPr>
            <a:r>
              <a:rPr lang="en-US" sz="1400" dirty="0">
                <a:solidFill>
                  <a:srgbClr val="8A979C"/>
                </a:solidFill>
              </a:rPr>
              <a:t>ADOPT</a:t>
            </a:r>
            <a:endParaRPr lang="en-US" sz="1400" dirty="0"/>
          </a:p>
        </p:txBody>
      </p:sp>
      <p:sp>
        <p:nvSpPr>
          <p:cNvPr id="14" name="Verdict ADAPT"/>
          <p:cNvSpPr txBox="1"/>
          <p:nvPr/>
        </p:nvSpPr>
        <p:spPr>
          <a:xfrm>
            <a:off x="7434621" y="2057400"/>
            <a:ext cx="969813" cy="566928"/>
          </a:xfrm>
          <a:prstGeom prst="roundRect">
            <a:avLst>
              <a:gd name="adj" fmla="val 16129"/>
            </a:avLst>
          </a:prstGeom>
          <a:solidFill>
            <a:schemeClr val="bg1"/>
          </a:solidFill>
          <a:ln w="12700">
            <a:solidFill>
              <a:srgbClr val="C9D4D6"/>
            </a:solidFill>
            <a:prstDash val="solid"/>
          </a:ln>
        </p:spPr>
        <p:txBody>
          <a:bodyPr wrap="square" lIns="0" tIns="0" rIns="0" bIns="0" rtlCol="0" anchor="ctr"/>
          <a:lstStyle/>
          <a:p>
            <a:pPr algn="ctr" indent="0" marL="0">
              <a:buNone/>
            </a:pPr>
            <a:r>
              <a:rPr lang="en-US" sz="1400" dirty="0">
                <a:solidFill>
                  <a:srgbClr val="8A979C"/>
                </a:solidFill>
              </a:rPr>
              <a:t>ADAPT</a:t>
            </a:r>
            <a:endParaRPr lang="en-US" sz="1400" dirty="0"/>
          </a:p>
        </p:txBody>
      </p:sp>
      <p:sp>
        <p:nvSpPr>
          <p:cNvPr id="15" name="Verdict PILOT"/>
          <p:cNvSpPr txBox="1"/>
          <p:nvPr/>
        </p:nvSpPr>
        <p:spPr>
          <a:xfrm>
            <a:off x="8514161" y="2057400"/>
            <a:ext cx="969813" cy="566928"/>
          </a:xfrm>
          <a:prstGeom prst="roundRect">
            <a:avLst>
              <a:gd name="adj" fmla="val 16129"/>
            </a:avLst>
          </a:prstGeom>
          <a:solidFill>
            <a:schemeClr val="tx2"/>
          </a:solidFill>
          <a:ln w="12700">
            <a:solidFill>
              <a:schemeClr val="tx2"/>
            </a:solidFill>
            <a:prstDash val="solid"/>
          </a:ln>
        </p:spPr>
        <p:txBody>
          <a:bodyPr wrap="square" lIns="0" tIns="0" rIns="0" bIns="0" rtlCol="0" anchor="ctr"/>
          <a:lstStyle/>
          <a:p>
            <a:pPr algn="ctr" indent="0" marL="0">
              <a:buNone/>
            </a:pPr>
            <a:r>
              <a:rPr lang="en-US" sz="1700" b="1" dirty="0">
                <a:solidFill>
                  <a:schemeClr val="bg1"/>
                </a:solidFill>
              </a:rPr>
              <a:t>PILOT</a:t>
            </a:r>
            <a:endParaRPr lang="en-US" sz="1700" dirty="0"/>
          </a:p>
        </p:txBody>
      </p:sp>
      <p:sp>
        <p:nvSpPr>
          <p:cNvPr id="16" name="Verdict DELAY"/>
          <p:cNvSpPr txBox="1"/>
          <p:nvPr/>
        </p:nvSpPr>
        <p:spPr>
          <a:xfrm>
            <a:off x="9593702" y="2057400"/>
            <a:ext cx="969813" cy="566928"/>
          </a:xfrm>
          <a:prstGeom prst="roundRect">
            <a:avLst>
              <a:gd name="adj" fmla="val 16129"/>
            </a:avLst>
          </a:prstGeom>
          <a:solidFill>
            <a:schemeClr val="bg1"/>
          </a:solidFill>
          <a:ln w="19050">
            <a:solidFill>
              <a:schemeClr val="accent5"/>
            </a:solidFill>
            <a:prstDash val="dash"/>
          </a:ln>
        </p:spPr>
        <p:txBody>
          <a:bodyPr wrap="square" lIns="0" tIns="0" rIns="0" bIns="0" rtlCol="0" anchor="ctr"/>
          <a:lstStyle/>
          <a:p>
            <a:pPr algn="ctr" indent="0" marL="0">
              <a:buNone/>
            </a:pPr>
            <a:r>
              <a:rPr lang="en-US" sz="1400" b="1" dirty="0">
                <a:solidFill>
                  <a:schemeClr val="accent5"/>
                </a:solidFill>
              </a:rPr>
              <a:t>DELAY</a:t>
            </a:r>
            <a:endParaRPr lang="en-US" sz="1400" dirty="0"/>
          </a:p>
        </p:txBody>
      </p:sp>
      <p:sp>
        <p:nvSpPr>
          <p:cNvPr id="17" name="Verdict REJECT"/>
          <p:cNvSpPr txBox="1"/>
          <p:nvPr/>
        </p:nvSpPr>
        <p:spPr>
          <a:xfrm>
            <a:off x="10673243" y="2057400"/>
            <a:ext cx="969813" cy="566928"/>
          </a:xfrm>
          <a:prstGeom prst="roundRect">
            <a:avLst>
              <a:gd name="adj" fmla="val 16129"/>
            </a:avLst>
          </a:prstGeom>
          <a:solidFill>
            <a:schemeClr val="bg1"/>
          </a:solidFill>
          <a:ln w="12700">
            <a:solidFill>
              <a:srgbClr val="C9D4D6"/>
            </a:solidFill>
            <a:prstDash val="solid"/>
          </a:ln>
        </p:spPr>
        <p:txBody>
          <a:bodyPr wrap="square" lIns="0" tIns="0" rIns="0" bIns="0" rtlCol="0" anchor="ctr"/>
          <a:lstStyle/>
          <a:p>
            <a:pPr algn="ctr" indent="0" marL="0">
              <a:buNone/>
            </a:pPr>
            <a:r>
              <a:rPr lang="en-US" sz="1400" dirty="0">
                <a:solidFill>
                  <a:srgbClr val="8A979C"/>
                </a:solidFill>
              </a:rPr>
              <a:t>REJECT</a:t>
            </a:r>
            <a:endParaRPr lang="en-US" sz="1400" dirty="0"/>
          </a:p>
        </p:txBody>
      </p:sp>
      <p:sp>
        <p:nvSpPr>
          <p:cNvPr id="18" name="Text 14"/>
          <p:cNvSpPr txBox="1"/>
          <p:nvPr/>
        </p:nvSpPr>
        <p:spPr>
          <a:xfrm>
            <a:off x="8514161" y="2697480"/>
            <a:ext cx="969813" cy="274320"/>
          </a:xfrm>
          <a:prstGeom prst="rect">
            <a:avLst/>
          </a:prstGeom>
          <a:noFill/>
          <a:ln/>
        </p:spPr>
        <p:txBody>
          <a:bodyPr wrap="square" lIns="0" tIns="0" rIns="0" bIns="0" rtlCol="0" anchor="t"/>
          <a:lstStyle/>
          <a:p>
            <a:pPr algn="ctr" indent="0" marL="0">
              <a:buNone/>
            </a:pPr>
            <a:r>
              <a:rPr lang="en-US" sz="1200" b="1" dirty="0">
                <a:solidFill>
                  <a:schemeClr val="tx2"/>
                </a:solidFill>
              </a:rPr>
              <a:t>▲ verdict</a:t>
            </a:r>
            <a:endParaRPr lang="en-US" sz="1200" dirty="0"/>
          </a:p>
        </p:txBody>
      </p:sp>
      <p:sp>
        <p:nvSpPr>
          <p:cNvPr id="19" name="Text 15"/>
          <p:cNvSpPr txBox="1"/>
          <p:nvPr/>
        </p:nvSpPr>
        <p:spPr>
          <a:xfrm>
            <a:off x="9502262" y="2697480"/>
            <a:ext cx="1152693" cy="457200"/>
          </a:xfrm>
          <a:prstGeom prst="rect">
            <a:avLst/>
          </a:prstGeom>
          <a:noFill/>
          <a:ln/>
        </p:spPr>
        <p:txBody>
          <a:bodyPr wrap="square" lIns="0" tIns="0" rIns="0" bIns="0" rtlCol="0" anchor="t"/>
          <a:lstStyle/>
          <a:p>
            <a:pPr algn="ctr" indent="0" marL="0">
              <a:buNone/>
            </a:pPr>
            <a:r>
              <a:rPr lang="en-US" sz="1200" b="1" dirty="0">
                <a:solidFill>
                  <a:schemeClr val="accent5"/>
                </a:solidFill>
              </a:rPr>
              <a:t>if stock</a:t>
            </a:r>
            <a:endParaRPr lang="en-US" sz="1200" dirty="0"/>
          </a:p>
          <a:p>
            <a:pPr algn="ctr" indent="0" marL="0">
              <a:buNone/>
            </a:pPr>
            <a:r>
              <a:rPr lang="en-US" sz="1200" b="1" dirty="0">
                <a:solidFill>
                  <a:schemeClr val="accent5"/>
                </a:solidFill>
              </a:rPr>
              <a:t>accuracy fails</a:t>
            </a:r>
            <a:endParaRPr lang="en-US" sz="1200" dirty="0"/>
          </a:p>
        </p:txBody>
      </p:sp>
      <p:sp>
        <p:nvSpPr>
          <p:cNvPr id="20" name="Text 16"/>
          <p:cNvSpPr txBox="1"/>
          <p:nvPr/>
        </p:nvSpPr>
        <p:spPr>
          <a:xfrm>
            <a:off x="6355080" y="3337560"/>
            <a:ext cx="5287975" cy="329184"/>
          </a:xfrm>
          <a:prstGeom prst="rect">
            <a:avLst/>
          </a:prstGeom>
          <a:noFill/>
          <a:ln/>
        </p:spPr>
        <p:txBody>
          <a:bodyPr wrap="square" lIns="0" tIns="0" rIns="0" bIns="0" rtlCol="0" anchor="t"/>
          <a:lstStyle/>
          <a:p>
            <a:pPr indent="0" marL="0">
              <a:buNone/>
            </a:pPr>
            <a:r>
              <a:rPr lang="en-US" sz="1800" b="1" dirty="0">
                <a:solidFill>
                  <a:schemeClr val="tx2"/>
                </a:solidFill>
              </a:rPr>
              <a:t>PILOT means</a:t>
            </a:r>
            <a:endParaRPr lang="en-US" sz="1800" dirty="0"/>
          </a:p>
        </p:txBody>
      </p:sp>
      <p:sp>
        <p:nvSpPr>
          <p:cNvPr id="21" name="Check Run Magnum’s own data checks"/>
          <p:cNvSpPr/>
          <p:nvPr/>
        </p:nvSpPr>
        <p:spPr>
          <a:xfrm>
            <a:off x="6355080" y="3794760"/>
            <a:ext cx="310896" cy="310896"/>
          </a:xfrm>
          <a:prstGeom prst="ellipse">
            <a:avLst/>
          </a:prstGeom>
          <a:solidFill>
            <a:schemeClr val="accent2"/>
          </a:solidFill>
          <a:ln w="12700">
            <a:solidFill>
              <a:schemeClr val="accent2"/>
            </a:solidFill>
            <a:prstDash val="solid"/>
          </a:ln>
        </p:spPr>
      </p:sp>
      <p:pic>
        <p:nvPicPr>
          <p:cNvPr id="22" name="Image 2" descr="preencoded.png">    </p:cNvPr>
          <p:cNvPicPr>
            <a:picLocks noChangeAspect="1"/>
          </p:cNvPicPr>
          <p:nvPr/>
        </p:nvPicPr>
        <p:blipFill>
          <a:blip r:embed="rId3"/>
          <a:stretch>
            <a:fillRect/>
          </a:stretch>
        </p:blipFill>
        <p:spPr>
          <a:xfrm>
            <a:off x="6432804" y="3872484"/>
            <a:ext cx="155448" cy="155448"/>
          </a:xfrm>
          <a:prstGeom prst="rect">
            <a:avLst/>
          </a:prstGeom>
        </p:spPr>
      </p:pic>
      <p:sp>
        <p:nvSpPr>
          <p:cNvPr id="23" name="Text 18"/>
          <p:cNvSpPr txBox="1"/>
          <p:nvPr/>
        </p:nvSpPr>
        <p:spPr>
          <a:xfrm>
            <a:off x="6812280" y="3767328"/>
            <a:ext cx="4830775" cy="365760"/>
          </a:xfrm>
          <a:prstGeom prst="rect">
            <a:avLst/>
          </a:prstGeom>
          <a:noFill/>
          <a:ln/>
        </p:spPr>
        <p:txBody>
          <a:bodyPr wrap="square" lIns="0" tIns="0" rIns="0" bIns="0" rtlCol="0" anchor="ctr"/>
          <a:lstStyle/>
          <a:p>
            <a:pPr indent="0" marL="0">
              <a:buNone/>
            </a:pPr>
            <a:r>
              <a:rPr lang="en-US" sz="1600" dirty="0">
                <a:solidFill>
                  <a:schemeClr val="tx1"/>
                </a:solidFill>
              </a:rPr>
              <a:t>Run Magnum’s own data checks</a:t>
            </a:r>
            <a:endParaRPr lang="en-US" sz="1600" dirty="0"/>
          </a:p>
        </p:txBody>
      </p:sp>
      <p:sp>
        <p:nvSpPr>
          <p:cNvPr id="24" name="Check Compare with existing ordering"/>
          <p:cNvSpPr/>
          <p:nvPr/>
        </p:nvSpPr>
        <p:spPr>
          <a:xfrm>
            <a:off x="6355080" y="4233672"/>
            <a:ext cx="310896" cy="310896"/>
          </a:xfrm>
          <a:prstGeom prst="ellipse">
            <a:avLst/>
          </a:prstGeom>
          <a:solidFill>
            <a:schemeClr val="accent2"/>
          </a:solidFill>
          <a:ln w="12700">
            <a:solidFill>
              <a:schemeClr val="accent2"/>
            </a:solidFill>
            <a:prstDash val="solid"/>
          </a:ln>
        </p:spPr>
      </p:sp>
      <p:pic>
        <p:nvPicPr>
          <p:cNvPr id="25" name="Image 3" descr="preencoded.png">    </p:cNvPr>
          <p:cNvPicPr>
            <a:picLocks noChangeAspect="1"/>
          </p:cNvPicPr>
          <p:nvPr/>
        </p:nvPicPr>
        <p:blipFill>
          <a:blip r:embed="rId4"/>
          <a:stretch>
            <a:fillRect/>
          </a:stretch>
        </p:blipFill>
        <p:spPr>
          <a:xfrm>
            <a:off x="6432804" y="4311396"/>
            <a:ext cx="155448" cy="155448"/>
          </a:xfrm>
          <a:prstGeom prst="rect">
            <a:avLst/>
          </a:prstGeom>
        </p:spPr>
      </p:pic>
      <p:sp>
        <p:nvSpPr>
          <p:cNvPr id="26" name="Text 20"/>
          <p:cNvSpPr txBox="1"/>
          <p:nvPr/>
        </p:nvSpPr>
        <p:spPr>
          <a:xfrm>
            <a:off x="6812280" y="4206240"/>
            <a:ext cx="4830775" cy="365760"/>
          </a:xfrm>
          <a:prstGeom prst="rect">
            <a:avLst/>
          </a:prstGeom>
          <a:noFill/>
          <a:ln/>
        </p:spPr>
        <p:txBody>
          <a:bodyPr wrap="square" lIns="0" tIns="0" rIns="0" bIns="0" rtlCol="0" anchor="ctr"/>
          <a:lstStyle/>
          <a:p>
            <a:pPr indent="0" marL="0">
              <a:buNone/>
            </a:pPr>
            <a:r>
              <a:rPr lang="en-US" sz="1600" dirty="0">
                <a:solidFill>
                  <a:schemeClr val="tx1"/>
                </a:solidFill>
              </a:rPr>
              <a:t>Compare with existing ordering</a:t>
            </a:r>
            <a:endParaRPr lang="en-US" sz="1600" dirty="0"/>
          </a:p>
        </p:txBody>
      </p:sp>
      <p:sp>
        <p:nvSpPr>
          <p:cNvPr id="27" name="Delay condition"/>
          <p:cNvSpPr txBox="1"/>
          <p:nvPr/>
        </p:nvSpPr>
        <p:spPr>
          <a:xfrm>
            <a:off x="6355080" y="4846320"/>
            <a:ext cx="5287975" cy="731520"/>
          </a:xfrm>
          <a:prstGeom prst="roundRect">
            <a:avLst>
              <a:gd name="adj" fmla="val 10000"/>
            </a:avLst>
          </a:prstGeom>
          <a:solidFill>
            <a:schemeClr val="accent5">
              <a:alpha val="12000"/>
            </a:schemeClr>
          </a:solidFill>
          <a:ln w="12700">
            <a:solidFill>
              <a:schemeClr val="accent5"/>
            </a:solidFill>
          </a:ln>
        </p:spPr>
        <p:txBody>
          <a:bodyPr wrap="square" lIns="203200" tIns="0" rIns="203200" bIns="0" rtlCol="0" anchor="ctr"/>
          <a:lstStyle/>
          <a:p>
            <a:pPr indent="0" marL="0">
              <a:buNone/>
            </a:pPr>
            <a:r>
              <a:rPr lang="en-US" sz="1700" dirty="0">
                <a:solidFill>
                  <a:schemeClr val="accent5"/>
                </a:solidFill>
              </a:rPr>
              <a:t>If stock accuracy fails, </a:t>
            </a:r>
            <a:pPr indent="0" marL="0">
              <a:buNone/>
            </a:pPr>
            <a:r>
              <a:rPr lang="en-US" sz="1700" b="1" dirty="0">
                <a:solidFill>
                  <a:schemeClr val="accent5"/>
                </a:solidFill>
              </a:rPr>
              <a:t>the verdict becomes DELAY.</a:t>
            </a:r>
            <a:endParaRPr lang="en-US" sz="1700" dirty="0"/>
          </a:p>
        </p:txBody>
      </p:sp>
      <p:sp>
        <p:nvSpPr>
          <p:cNvPr id="28" name="Text 22"/>
          <p:cNvSpPr txBox="1"/>
          <p:nvPr/>
        </p:nvSpPr>
        <p:spPr>
          <a:xfrm>
            <a:off x="548640" y="6382512"/>
            <a:ext cx="10424160" cy="274320"/>
          </a:xfrm>
          <a:prstGeom prst="rect">
            <a:avLst/>
          </a:prstGeom>
          <a:noFill/>
          <a:ln/>
        </p:spPr>
        <p:txBody>
          <a:bodyPr wrap="square" lIns="0" tIns="0" rIns="0" bIns="0" rtlCol="0" anchor="ctr"/>
          <a:lstStyle/>
          <a:p>
            <a:pPr indent="0" marL="0">
              <a:buNone/>
            </a:pPr>
            <a:r>
              <a:rPr lang="en-US" sz="1000" dirty="0">
                <a:solidFill>
                  <a:schemeClr val="accent6"/>
                </a:solidFill>
              </a:rPr>
              <a:t>Source: [5] SAS, Carrefour forecasting announcement, 14 Jan. 2019. Magnum’s financial return still needs testing.</a:t>
            </a:r>
            <a:endParaRPr lang="en-US" sz="10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First action and conditions for expansion</a:t>
            </a:r>
            <a:endParaRPr lang="en-US" sz="3400" dirty="0"/>
          </a:p>
        </p:txBody>
      </p:sp>
      <p:sp>
        <p:nvSpPr>
          <p:cNvPr id="3" name="Text 1"/>
          <p:cNvSpPr txBox="1"/>
          <p:nvPr/>
        </p:nvSpPr>
        <p:spPr>
          <a:xfrm>
            <a:off x="548640" y="1463040"/>
            <a:ext cx="4572000" cy="274320"/>
          </a:xfrm>
          <a:prstGeom prst="rect">
            <a:avLst/>
          </a:prstGeom>
          <a:noFill/>
          <a:ln/>
        </p:spPr>
        <p:txBody>
          <a:bodyPr wrap="square" lIns="0" tIns="0" rIns="0" bIns="0" rtlCol="0" anchor="t"/>
          <a:lstStyle/>
          <a:p>
            <a:pPr indent="0" marL="0">
              <a:buNone/>
            </a:pPr>
            <a:r>
              <a:rPr lang="en-US" sz="1200" b="1" spc="150" kern="0" dirty="0">
                <a:solidFill>
                  <a:srgbClr val="A9C0C3"/>
                </a:solidFill>
              </a:rPr>
              <a:t>FIRST ACTION</a:t>
            </a:r>
            <a:endParaRPr lang="en-US" sz="1200" dirty="0"/>
          </a:p>
        </p:txBody>
      </p:sp>
      <p:sp>
        <p:nvSpPr>
          <p:cNvPr id="4" name="Text 2"/>
          <p:cNvSpPr txBox="1"/>
          <p:nvPr/>
        </p:nvSpPr>
        <p:spPr>
          <a:xfrm>
            <a:off x="548640" y="1810512"/>
            <a:ext cx="5120640" cy="123444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One store.</a:t>
            </a:r>
            <a:endParaRPr lang="en-US" sz="3200" dirty="0"/>
          </a:p>
          <a:p>
            <a:pPr indent="0" marL="0">
              <a:buNone/>
            </a:pPr>
            <a:r>
              <a:rPr lang="en-US" sz="3200" b="1" dirty="0">
                <a:solidFill>
                  <a:schemeClr val="bg1"/>
                </a:solidFill>
                <a:latin typeface="Cambria" pitchFamily="34" charset="0"/>
                <a:ea typeface="Cambria" pitchFamily="34" charset="-122"/>
                <a:cs typeface="Cambria" pitchFamily="34" charset="-120"/>
              </a:rPr>
              <a:t>One product category.</a:t>
            </a:r>
            <a:endParaRPr lang="en-US" sz="3200" dirty="0"/>
          </a:p>
        </p:txBody>
      </p:sp>
      <p:sp>
        <p:nvSpPr>
          <p:cNvPr id="5" name="First step 1"/>
          <p:cNvSpPr txBox="1"/>
          <p:nvPr/>
        </p:nvSpPr>
        <p:spPr>
          <a:xfrm>
            <a:off x="548640" y="3429000"/>
            <a:ext cx="457200" cy="457200"/>
          </a:xfrm>
          <a:prstGeom prst="ellipse">
            <a:avLst/>
          </a:prstGeom>
          <a:solidFill>
            <a:schemeClr val="bg1">
              <a:alpha val="15000"/>
            </a:schemeClr>
          </a:solidFill>
          <a:ln w="12700">
            <a:solidFill>
              <a:schemeClr val="bg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Text 4"/>
          <p:cNvSpPr txBox="1"/>
          <p:nvPr/>
        </p:nvSpPr>
        <p:spPr>
          <a:xfrm>
            <a:off x="1234440" y="3429000"/>
            <a:ext cx="4389120" cy="457200"/>
          </a:xfrm>
          <a:prstGeom prst="rect">
            <a:avLst/>
          </a:prstGeom>
          <a:noFill/>
          <a:ln/>
        </p:spPr>
        <p:txBody>
          <a:bodyPr wrap="square" lIns="0" tIns="0" rIns="0" bIns="0" rtlCol="0" anchor="ctr"/>
          <a:lstStyle/>
          <a:p>
            <a:pPr indent="0" marL="0">
              <a:buNone/>
            </a:pPr>
            <a:r>
              <a:rPr lang="en-US" sz="2000" dirty="0">
                <a:solidFill>
                  <a:schemeClr val="bg1"/>
                </a:solidFill>
              </a:rPr>
              <a:t>Establish the baseline</a:t>
            </a:r>
            <a:endParaRPr lang="en-US" sz="2000" dirty="0"/>
          </a:p>
        </p:txBody>
      </p:sp>
      <p:sp>
        <p:nvSpPr>
          <p:cNvPr id="7" name="First step 2"/>
          <p:cNvSpPr txBox="1"/>
          <p:nvPr/>
        </p:nvSpPr>
        <p:spPr>
          <a:xfrm>
            <a:off x="548640" y="4142232"/>
            <a:ext cx="457200" cy="457200"/>
          </a:xfrm>
          <a:prstGeom prst="ellipse">
            <a:avLst/>
          </a:prstGeom>
          <a:solidFill>
            <a:schemeClr val="bg1">
              <a:alpha val="15000"/>
            </a:schemeClr>
          </a:solidFill>
          <a:ln w="12700">
            <a:solidFill>
              <a:schemeClr val="bg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8" name="Text 6"/>
          <p:cNvSpPr txBox="1"/>
          <p:nvPr/>
        </p:nvSpPr>
        <p:spPr>
          <a:xfrm>
            <a:off x="1234440" y="4142232"/>
            <a:ext cx="4389120" cy="457200"/>
          </a:xfrm>
          <a:prstGeom prst="rect">
            <a:avLst/>
          </a:prstGeom>
          <a:noFill/>
          <a:ln/>
        </p:spPr>
        <p:txBody>
          <a:bodyPr wrap="square" lIns="0" tIns="0" rIns="0" bIns="0" rtlCol="0" anchor="ctr"/>
          <a:lstStyle/>
          <a:p>
            <a:pPr indent="0" marL="0">
              <a:buNone/>
            </a:pPr>
            <a:r>
              <a:rPr lang="en-US" sz="2000" dirty="0">
                <a:solidFill>
                  <a:schemeClr val="bg1"/>
                </a:solidFill>
              </a:rPr>
              <a:t>Practise manual ordering</a:t>
            </a:r>
            <a:endParaRPr lang="en-US" sz="2000" dirty="0"/>
          </a:p>
        </p:txBody>
      </p:sp>
      <p:sp>
        <p:nvSpPr>
          <p:cNvPr id="9" name="Text 7"/>
          <p:cNvSpPr txBox="1"/>
          <p:nvPr/>
        </p:nvSpPr>
        <p:spPr>
          <a:xfrm>
            <a:off x="548640" y="4919472"/>
            <a:ext cx="4572000" cy="320040"/>
          </a:xfrm>
          <a:prstGeom prst="rect">
            <a:avLst/>
          </a:prstGeom>
          <a:noFill/>
          <a:ln/>
        </p:spPr>
        <p:txBody>
          <a:bodyPr wrap="square" lIns="0" tIns="0" rIns="0" bIns="0" rtlCol="0" anchor="t"/>
          <a:lstStyle/>
          <a:p>
            <a:pPr indent="0" marL="0">
              <a:buNone/>
            </a:pPr>
            <a:r>
              <a:rPr lang="en-US" sz="1500" i="1" dirty="0">
                <a:solidFill>
                  <a:srgbClr val="A9C0C3"/>
                </a:solidFill>
              </a:rPr>
              <a:t>Both before the trial starts.</a:t>
            </a:r>
            <a:endParaRPr lang="en-US" sz="1500" dirty="0"/>
          </a:p>
        </p:txBody>
      </p:sp>
      <p:sp>
        <p:nvSpPr>
          <p:cNvPr id="10" name="Text 8"/>
          <p:cNvSpPr txBox="1"/>
          <p:nvPr/>
        </p:nvSpPr>
        <p:spPr>
          <a:xfrm>
            <a:off x="6172200" y="1463040"/>
            <a:ext cx="5470855" cy="274320"/>
          </a:xfrm>
          <a:prstGeom prst="rect">
            <a:avLst/>
          </a:prstGeom>
          <a:noFill/>
          <a:ln/>
        </p:spPr>
        <p:txBody>
          <a:bodyPr wrap="square" lIns="0" tIns="0" rIns="0" bIns="0" rtlCol="0" anchor="t"/>
          <a:lstStyle/>
          <a:p>
            <a:pPr indent="0" marL="0">
              <a:buNone/>
            </a:pPr>
            <a:r>
              <a:rPr lang="en-US" sz="1200" b="1" spc="150" kern="0" dirty="0">
                <a:solidFill>
                  <a:srgbClr val="A9C0C3"/>
                </a:solidFill>
              </a:rPr>
              <a:t>EXPAND ONLY IF ALL THREE PASS</a:t>
            </a:r>
            <a:endParaRPr lang="en-US" sz="1200" dirty="0"/>
          </a:p>
        </p:txBody>
      </p:sp>
      <p:sp>
        <p:nvSpPr>
          <p:cNvPr id="11" name="Gate Availability"/>
          <p:cNvSpPr/>
          <p:nvPr/>
        </p:nvSpPr>
        <p:spPr>
          <a:xfrm>
            <a:off x="6172200" y="1828800"/>
            <a:ext cx="5470855" cy="960120"/>
          </a:xfrm>
          <a:prstGeom prst="roundRect">
            <a:avLst>
              <a:gd name="adj" fmla="val 7619"/>
            </a:avLst>
          </a:prstGeom>
          <a:solidFill>
            <a:schemeClr val="bg1">
              <a:alpha val="10000"/>
            </a:schemeClr>
          </a:solidFill>
          <a:ln w="9525">
            <a:solidFill>
              <a:schemeClr val="bg1">
                <a:alpha val="25000"/>
              </a:schemeClr>
            </a:solidFill>
            <a:prstDash val="solid"/>
          </a:ln>
        </p:spPr>
      </p:sp>
      <p:sp>
        <p:nvSpPr>
          <p:cNvPr id="12" name="Gate icon Availability"/>
          <p:cNvSpPr/>
          <p:nvPr/>
        </p:nvSpPr>
        <p:spPr>
          <a:xfrm>
            <a:off x="6446520" y="2075688"/>
            <a:ext cx="457200" cy="457200"/>
          </a:xfrm>
          <a:prstGeom prst="ellipse">
            <a:avLst/>
          </a:prstGeom>
          <a:solidFill>
            <a:schemeClr val="accent2"/>
          </a:solidFill>
          <a:ln w="12700">
            <a:solidFill>
              <a:schemeClr val="accent2"/>
            </a:solidFill>
            <a:prstDash val="solid"/>
          </a:ln>
        </p:spPr>
      </p:sp>
      <p:pic>
        <p:nvPicPr>
          <p:cNvPr id="13" name="Image 0" descr="preencoded.png">    </p:cNvPr>
          <p:cNvPicPr>
            <a:picLocks noChangeAspect="1"/>
          </p:cNvPicPr>
          <p:nvPr/>
        </p:nvPicPr>
        <p:blipFill>
          <a:blip r:embed="rId1"/>
          <a:stretch>
            <a:fillRect/>
          </a:stretch>
        </p:blipFill>
        <p:spPr>
          <a:xfrm>
            <a:off x="6556248" y="2185416"/>
            <a:ext cx="237744" cy="237744"/>
          </a:xfrm>
          <a:prstGeom prst="rect">
            <a:avLst/>
          </a:prstGeom>
        </p:spPr>
      </p:pic>
      <p:sp>
        <p:nvSpPr>
          <p:cNvPr id="14" name="Text 11"/>
          <p:cNvSpPr txBox="1"/>
          <p:nvPr/>
        </p:nvSpPr>
        <p:spPr>
          <a:xfrm>
            <a:off x="7132320" y="1956816"/>
            <a:ext cx="4282135" cy="347472"/>
          </a:xfrm>
          <a:prstGeom prst="rect">
            <a:avLst/>
          </a:prstGeom>
          <a:noFill/>
          <a:ln/>
        </p:spPr>
        <p:txBody>
          <a:bodyPr wrap="square" lIns="0" tIns="0" rIns="0" bIns="0" rtlCol="0" anchor="ctr"/>
          <a:lstStyle/>
          <a:p>
            <a:pPr indent="0" marL="0">
              <a:buNone/>
            </a:pPr>
            <a:r>
              <a:rPr lang="en-US" sz="1900" b="1" dirty="0">
                <a:solidFill>
                  <a:schemeClr val="bg1"/>
                </a:solidFill>
              </a:rPr>
              <a:t>Availability</a:t>
            </a:r>
            <a:endParaRPr lang="en-US" sz="1900" dirty="0"/>
          </a:p>
        </p:txBody>
      </p:sp>
      <p:sp>
        <p:nvSpPr>
          <p:cNvPr id="15" name="Text 12"/>
          <p:cNvSpPr txBox="1"/>
          <p:nvPr/>
        </p:nvSpPr>
        <p:spPr>
          <a:xfrm>
            <a:off x="7132320" y="2322576"/>
            <a:ext cx="4282135" cy="329184"/>
          </a:xfrm>
          <a:prstGeom prst="rect">
            <a:avLst/>
          </a:prstGeom>
          <a:noFill/>
          <a:ln/>
        </p:spPr>
        <p:txBody>
          <a:bodyPr wrap="square" lIns="0" tIns="0" rIns="0" bIns="0" rtlCol="0" anchor="ctr"/>
          <a:lstStyle/>
          <a:p>
            <a:pPr indent="0" marL="0">
              <a:buNone/>
            </a:pPr>
            <a:r>
              <a:rPr lang="en-US" sz="1600" dirty="0">
                <a:solidFill>
                  <a:schemeClr val="bg2"/>
                </a:solidFill>
              </a:rPr>
              <a:t>At least 98% after six months</a:t>
            </a:r>
            <a:endParaRPr lang="en-US" sz="1600" dirty="0"/>
          </a:p>
        </p:txBody>
      </p:sp>
      <p:sp>
        <p:nvSpPr>
          <p:cNvPr id="16" name="Gate Forecast error"/>
          <p:cNvSpPr/>
          <p:nvPr/>
        </p:nvSpPr>
        <p:spPr>
          <a:xfrm>
            <a:off x="6172200" y="2971800"/>
            <a:ext cx="5470855" cy="960120"/>
          </a:xfrm>
          <a:prstGeom prst="roundRect">
            <a:avLst>
              <a:gd name="adj" fmla="val 7619"/>
            </a:avLst>
          </a:prstGeom>
          <a:solidFill>
            <a:schemeClr val="bg1">
              <a:alpha val="10000"/>
            </a:schemeClr>
          </a:solidFill>
          <a:ln w="9525">
            <a:solidFill>
              <a:schemeClr val="bg1">
                <a:alpha val="25000"/>
              </a:schemeClr>
            </a:solidFill>
            <a:prstDash val="solid"/>
          </a:ln>
        </p:spPr>
      </p:sp>
      <p:sp>
        <p:nvSpPr>
          <p:cNvPr id="17" name="Gate icon Forecast error"/>
          <p:cNvSpPr/>
          <p:nvPr/>
        </p:nvSpPr>
        <p:spPr>
          <a:xfrm>
            <a:off x="6446520" y="3218688"/>
            <a:ext cx="457200" cy="457200"/>
          </a:xfrm>
          <a:prstGeom prst="ellipse">
            <a:avLst/>
          </a:prstGeom>
          <a:solidFill>
            <a:schemeClr val="accent2"/>
          </a:solidFill>
          <a:ln w="12700">
            <a:solidFill>
              <a:schemeClr val="accent2"/>
            </a:solidFill>
            <a:prstDash val="solid"/>
          </a:ln>
        </p:spPr>
      </p:sp>
      <p:pic>
        <p:nvPicPr>
          <p:cNvPr id="18" name="Image 1" descr="preencoded.png">    </p:cNvPr>
          <p:cNvPicPr>
            <a:picLocks noChangeAspect="1"/>
          </p:cNvPicPr>
          <p:nvPr/>
        </p:nvPicPr>
        <p:blipFill>
          <a:blip r:embed="rId2"/>
          <a:stretch>
            <a:fillRect/>
          </a:stretch>
        </p:blipFill>
        <p:spPr>
          <a:xfrm>
            <a:off x="6556248" y="3328416"/>
            <a:ext cx="237744" cy="237744"/>
          </a:xfrm>
          <a:prstGeom prst="rect">
            <a:avLst/>
          </a:prstGeom>
        </p:spPr>
      </p:pic>
      <p:sp>
        <p:nvSpPr>
          <p:cNvPr id="19" name="Text 15"/>
          <p:cNvSpPr txBox="1"/>
          <p:nvPr/>
        </p:nvSpPr>
        <p:spPr>
          <a:xfrm>
            <a:off x="7132320" y="3099816"/>
            <a:ext cx="4282135" cy="347472"/>
          </a:xfrm>
          <a:prstGeom prst="rect">
            <a:avLst/>
          </a:prstGeom>
          <a:noFill/>
          <a:ln/>
        </p:spPr>
        <p:txBody>
          <a:bodyPr wrap="square" lIns="0" tIns="0" rIns="0" bIns="0" rtlCol="0" anchor="ctr"/>
          <a:lstStyle/>
          <a:p>
            <a:pPr indent="0" marL="0">
              <a:buNone/>
            </a:pPr>
            <a:r>
              <a:rPr lang="en-US" sz="1900" b="1" dirty="0">
                <a:solidFill>
                  <a:schemeClr val="bg1"/>
                </a:solidFill>
              </a:rPr>
              <a:t>Forecast error</a:t>
            </a:r>
            <a:endParaRPr lang="en-US" sz="1900" dirty="0"/>
          </a:p>
        </p:txBody>
      </p:sp>
      <p:sp>
        <p:nvSpPr>
          <p:cNvPr id="20" name="Text 16"/>
          <p:cNvSpPr txBox="1"/>
          <p:nvPr/>
        </p:nvSpPr>
        <p:spPr>
          <a:xfrm>
            <a:off x="7132320" y="3465576"/>
            <a:ext cx="4282135" cy="329184"/>
          </a:xfrm>
          <a:prstGeom prst="rect">
            <a:avLst/>
          </a:prstGeom>
          <a:noFill/>
          <a:ln/>
        </p:spPr>
        <p:txBody>
          <a:bodyPr wrap="square" lIns="0" tIns="0" rIns="0" bIns="0" rtlCol="0" anchor="ctr"/>
          <a:lstStyle/>
          <a:p>
            <a:pPr indent="0" marL="0">
              <a:buNone/>
            </a:pPr>
            <a:r>
              <a:rPr lang="en-US" sz="1600" dirty="0">
                <a:solidFill>
                  <a:schemeClr val="bg2"/>
                </a:solidFill>
              </a:rPr>
              <a:t>Improves against the baseline</a:t>
            </a:r>
            <a:endParaRPr lang="en-US" sz="1600" dirty="0"/>
          </a:p>
        </p:txBody>
      </p:sp>
      <p:sp>
        <p:nvSpPr>
          <p:cNvPr id="21" name="Gate Net benefit"/>
          <p:cNvSpPr/>
          <p:nvPr/>
        </p:nvSpPr>
        <p:spPr>
          <a:xfrm>
            <a:off x="6172200" y="4114800"/>
            <a:ext cx="5470855" cy="960120"/>
          </a:xfrm>
          <a:prstGeom prst="roundRect">
            <a:avLst>
              <a:gd name="adj" fmla="val 7619"/>
            </a:avLst>
          </a:prstGeom>
          <a:solidFill>
            <a:schemeClr val="bg1">
              <a:alpha val="10000"/>
            </a:schemeClr>
          </a:solidFill>
          <a:ln w="9525">
            <a:solidFill>
              <a:schemeClr val="bg1">
                <a:alpha val="25000"/>
              </a:schemeClr>
            </a:solidFill>
            <a:prstDash val="solid"/>
          </a:ln>
        </p:spPr>
      </p:sp>
      <p:sp>
        <p:nvSpPr>
          <p:cNvPr id="22" name="Gate icon Net benefit"/>
          <p:cNvSpPr/>
          <p:nvPr/>
        </p:nvSpPr>
        <p:spPr>
          <a:xfrm>
            <a:off x="6446520" y="4361688"/>
            <a:ext cx="457200" cy="457200"/>
          </a:xfrm>
          <a:prstGeom prst="ellipse">
            <a:avLst/>
          </a:prstGeom>
          <a:solidFill>
            <a:schemeClr val="accent2"/>
          </a:solidFill>
          <a:ln w="12700">
            <a:solidFill>
              <a:schemeClr val="accent2"/>
            </a:solidFill>
            <a:prstDash val="solid"/>
          </a:ln>
        </p:spPr>
      </p:sp>
      <p:pic>
        <p:nvPicPr>
          <p:cNvPr id="23" name="Image 2" descr="preencoded.png">    </p:cNvPr>
          <p:cNvPicPr>
            <a:picLocks noChangeAspect="1"/>
          </p:cNvPicPr>
          <p:nvPr/>
        </p:nvPicPr>
        <p:blipFill>
          <a:blip r:embed="rId3"/>
          <a:stretch>
            <a:fillRect/>
          </a:stretch>
        </p:blipFill>
        <p:spPr>
          <a:xfrm>
            <a:off x="6556248" y="4471416"/>
            <a:ext cx="237744" cy="237744"/>
          </a:xfrm>
          <a:prstGeom prst="rect">
            <a:avLst/>
          </a:prstGeom>
        </p:spPr>
      </p:pic>
      <p:sp>
        <p:nvSpPr>
          <p:cNvPr id="24" name="Text 19"/>
          <p:cNvSpPr txBox="1"/>
          <p:nvPr/>
        </p:nvSpPr>
        <p:spPr>
          <a:xfrm>
            <a:off x="7132320" y="4242816"/>
            <a:ext cx="4282135" cy="347472"/>
          </a:xfrm>
          <a:prstGeom prst="rect">
            <a:avLst/>
          </a:prstGeom>
          <a:noFill/>
          <a:ln/>
        </p:spPr>
        <p:txBody>
          <a:bodyPr wrap="square" lIns="0" tIns="0" rIns="0" bIns="0" rtlCol="0" anchor="ctr"/>
          <a:lstStyle/>
          <a:p>
            <a:pPr indent="0" marL="0">
              <a:buNone/>
            </a:pPr>
            <a:r>
              <a:rPr lang="en-US" sz="1900" b="1" dirty="0">
                <a:solidFill>
                  <a:schemeClr val="bg1"/>
                </a:solidFill>
              </a:rPr>
              <a:t>Net benefit</a:t>
            </a:r>
            <a:endParaRPr lang="en-US" sz="1900" dirty="0"/>
          </a:p>
        </p:txBody>
      </p:sp>
      <p:sp>
        <p:nvSpPr>
          <p:cNvPr id="25" name="Text 20"/>
          <p:cNvSpPr txBox="1"/>
          <p:nvPr/>
        </p:nvSpPr>
        <p:spPr>
          <a:xfrm>
            <a:off x="7132320" y="4608576"/>
            <a:ext cx="4282135" cy="329184"/>
          </a:xfrm>
          <a:prstGeom prst="rect">
            <a:avLst/>
          </a:prstGeom>
          <a:noFill/>
          <a:ln/>
        </p:spPr>
        <p:txBody>
          <a:bodyPr wrap="square" lIns="0" tIns="0" rIns="0" bIns="0" rtlCol="0" anchor="ctr"/>
          <a:lstStyle/>
          <a:p>
            <a:pPr indent="0" marL="0">
              <a:buNone/>
            </a:pPr>
            <a:r>
              <a:rPr lang="en-US" sz="1600" dirty="0">
                <a:solidFill>
                  <a:schemeClr val="bg2"/>
                </a:solidFill>
              </a:rPr>
              <a:t>Positive after software and staff costs</a:t>
            </a:r>
            <a:endParaRPr lang="en-US" sz="1600" dirty="0"/>
          </a:p>
        </p:txBody>
      </p:sp>
      <p:sp>
        <p:nvSpPr>
          <p:cNvPr id="26" name="Text 21"/>
          <p:cNvSpPr txBox="1"/>
          <p:nvPr/>
        </p:nvSpPr>
        <p:spPr>
          <a:xfrm>
            <a:off x="548640" y="6382512"/>
            <a:ext cx="10424160" cy="274320"/>
          </a:xfrm>
          <a:prstGeom prst="rect">
            <a:avLst/>
          </a:prstGeom>
          <a:noFill/>
          <a:ln/>
        </p:spPr>
        <p:txBody>
          <a:bodyPr wrap="square" lIns="0" tIns="0" rIns="0" bIns="0" rtlCol="0" anchor="ctr"/>
          <a:lstStyle/>
          <a:p>
            <a:pPr indent="0" marL="0">
              <a:buNone/>
            </a:pPr>
            <a:r>
              <a:rPr lang="en-US" sz="1000" dirty="0">
                <a:solidFill>
                  <a:srgbClr val="A9C0C3"/>
                </a:solidFill>
              </a:rPr>
              <a:t>Targets are proposals for the pilot. Magnum’s baseline and returns are not established.</a:t>
            </a:r>
            <a:endParaRPr lang="en-US" sz="1000" dirty="0"/>
          </a:p>
        </p:txBody>
      </p:sp>
      <p:sp>
        <p:nvSpPr>
          <p:cNvPr id="25" name="Slide Number Placeholder 0"/>
          <p:cNvSpPr>
            <a:spLocks noGrp="1"/>
          </p:cNvSpPr>
          <p:nvPr>
            <p:ph type="sldNum" sz="quarter" idx="4294967295"/>
          </p:nvPr>
        </p:nvSpPr>
        <p:spPr>
          <a:xfrm>
            <a:off x="11274552" y="638251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Magnum Operating Model">
  <a:themeElements>
    <a:clrScheme name="Magnum Operating Model">
      <a:dk1>
        <a:srgbClr val="1B2A30"/>
      </a:dk1>
      <a:lt1>
        <a:srgbClr val="FFFFFF"/>
      </a:lt1>
      <a:dk2>
        <a:srgbClr val="14323A"/>
      </a:dk2>
      <a:lt2>
        <a:srgbClr val="EEF2F2"/>
      </a:lt2>
      <a:accent1>
        <a:srgbClr val="2E4A7D"/>
      </a:accent1>
      <a:accent2>
        <a:srgbClr val="2A8C82"/>
      </a:accent2>
      <a:accent3>
        <a:srgbClr val="B26F1E"/>
      </a:accent3>
      <a:accent4>
        <a:srgbClr val="6E7C85"/>
      </a:accent4>
      <a:accent5>
        <a:srgbClr val="C2412D"/>
      </a:accent5>
      <a:accent6>
        <a:srgbClr val="56656B"/>
      </a:accent6>
      <a:hlink>
        <a:srgbClr val="2E4A7D"/>
      </a:hlink>
      <a:folHlink>
        <a:srgbClr val="56656B"/>
      </a:folHlink>
    </a:clrScheme>
    <a:fontScheme name="Magnum Operating Mod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 — Magnum's human–AI operating model</dc:title>
  <dc:subject>PptxGenJS Presentation</dc:subject>
  <dc:creator>Kniazev Daniil</dc:creator>
  <cp:lastModifiedBy>Kniazev Daniil</cp:lastModifiedBy>
  <cp:revision>1</cp:revision>
  <dcterms:created xsi:type="dcterms:W3CDTF">2026-10-04T16:59:54Z</dcterms:created>
  <dcterms:modified xsi:type="dcterms:W3CDTF">2026-10-04T16:59:54Z</dcterms:modified>
</cp:coreProperties>
</file>