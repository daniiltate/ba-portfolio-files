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60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86868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15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1188720"/>
            <a:ext cx="987552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45720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</a:rPr>
              <a:t>CLAIM</a:t>
            </a:r>
            <a:endParaRPr lang="en-US" sz="1000" dirty="0"/>
          </a:p>
        </p:txBody>
      </p:sp>
      <p:sp>
        <p:nvSpPr>
          <p:cNvPr id="6" name="Text 1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Kniazev Daniil · AIB-2602 · BA2026 A3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 Vis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kern="0" spc="1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991295" y="246888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kern="0" spc="100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Shape 0"/>
          <p:cNvSpPr/>
          <p:nvPr/>
        </p:nvSpPr>
        <p:spPr>
          <a:xfrm>
            <a:off x="457200" y="530352"/>
            <a:ext cx="11277295" cy="0"/>
          </a:xfrm>
          <a:prstGeom prst="line">
            <a:avLst/>
          </a:prstGeom>
          <a:noFill/>
          <a:ln w="9525">
            <a:solidFill>
              <a:srgbClr val="DCDAD4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457200" y="6007608"/>
            <a:ext cx="7619695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1"/>
          <p:cNvSpPr/>
          <p:nvPr/>
        </p:nvSpPr>
        <p:spPr>
          <a:xfrm>
            <a:off x="8385048" y="1097280"/>
            <a:ext cx="3346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COMMENTARY</a:t>
            </a:r>
            <a:endParaRPr lang="en-US" sz="10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lnSpc>
                <a:spcPct val="13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Text 2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Kniazev Daniil · AIB-2602 · BA2026 A3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kern="0" spc="1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991295" y="246888"/>
            <a:ext cx="2743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kern="0" spc="100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Shape 0"/>
          <p:cNvSpPr/>
          <p:nvPr/>
        </p:nvSpPr>
        <p:spPr>
          <a:xfrm>
            <a:off x="457200" y="530352"/>
            <a:ext cx="11277295" cy="0"/>
          </a:xfrm>
          <a:prstGeom prst="line">
            <a:avLst/>
          </a:prstGeom>
          <a:noFill/>
          <a:ln w="9525">
            <a:solidFill>
              <a:srgbClr val="DCDAD4"/>
            </a:solidFill>
            <a:prstDash val="solid"/>
          </a:ln>
        </p:spPr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457200" y="621792"/>
            <a:ext cx="10835640" cy="40233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45720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Kniazev Daniil · AIB-2602 · BA2026 A3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150" dirty="0">
                <a:solidFill>
                  <a:schemeClr val="tx2"/>
                </a:solidFill>
              </a:rPr>
              <a:t>BUSINESS ADMINISTRATION · ASSIGNMENT 3 · PHOTO ESSAY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11887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Customer, technology and data systems reshaping value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Company A: Carrefour → Company B: Magnum Cash&amp;Carry</a:t>
            </a:r>
            <a:endParaRPr lang="en-US" sz="1600" dirty="0"/>
          </a:p>
        </p:txBody>
      </p:sp>
      <p:sp>
        <p:nvSpPr>
          <p:cNvPr id="5" name="Claim panel"/>
          <p:cNvSpPr/>
          <p:nvPr/>
        </p:nvSpPr>
        <p:spPr>
          <a:xfrm>
            <a:off x="457200" y="3310128"/>
            <a:ext cx="1088136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/>
        </p:spPr>
      </p:sp>
      <p:sp>
        <p:nvSpPr>
          <p:cNvPr id="6" name="Claim"/>
          <p:cNvSpPr txBox="1"/>
          <p:nvPr/>
        </p:nvSpPr>
        <p:spPr>
          <a:xfrm>
            <a:off x="685800" y="3383280"/>
            <a:ext cx="104241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Magnum’s discounts create value that its weekly message fails to turn into purchases; AI can close that gap only behind a human check and a Kazakhstan data boundary, so Magnum should adapt Carrefour’s AI copywriting, adopt its data controls and delay its personalisation.</a:t>
            </a:r>
            <a:endParaRPr lang="en-US" sz="1700" dirty="0"/>
          </a:p>
        </p:txBody>
      </p:sp>
      <p:graphicFrame>
        <p:nvGraphicFramePr>
          <p:cNvPr id="7" name="Student detai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92040"/>
          <a:ext cx="6858000" cy="1097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Kniazev Daniil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AIB-2602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Course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Business Administration (BA 1204), Astana IT University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Submitted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October 2026</a:t>
                      </a:r>
                      <a:endParaRPr lang="en-US" sz="1200" dirty="0"/>
                    </a:p>
                  </a:txBody>
                  <a:tcPr marL="0" marR="45720" marT="18288" marB="1828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OPENING VISUAL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Company B: Magnum Cash&amp;Carry and the value it promises</a:t>
            </a:r>
            <a:endParaRPr lang="en-US" sz="2000" dirty="0"/>
          </a:p>
        </p:txBody>
      </p:sp>
      <p:sp>
        <p:nvSpPr>
          <p:cNvPr id="5" name="Visual 1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1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7" name="Visual 1" descr="Visual 1: Company B: Magnum Cash&amp;Carry and the value it promises. Source: screenshot by the author of the magnum.kz home page (Astana), Oct. 17, 2026 [28]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619695" cy="4876495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Magnum sells savings and loyalty: a weekly discount catalogue, Magnum Club bonuses and offers such as a 30% Nivea bonus [28]. With 9.8% annual inflation [4], saving is the core household value. Club membership (2M+) is Magnum’s own figure [24], so the essay relies on customer-facing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CUSTOMER AND VALUE CREATION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The customer journey and where it breaks</a:t>
            </a:r>
            <a:endParaRPr lang="en-US" sz="2000" dirty="0"/>
          </a:p>
        </p:txBody>
      </p:sp>
      <p:sp>
        <p:nvSpPr>
          <p:cNvPr id="5" name="Visual 2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2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7" name="Visual 2" descr="Visual 2: The customer journey and where it breaks. Source: author’s diagram from Weekly Record 6; data from [4], [23]–[25], [28]. Prepared with AI assistance."/>
          <p:cNvPicPr>
            <a:picLocks noChangeAspect="1"/>
          </p:cNvPicPr>
          <p:nvPr/>
        </p:nvPicPr>
        <p:blipFill>
          <a:blip r:embed="rId3"/>
          <a:srcRect l="1138" t="2063" r="1642" b="5118"/>
          <a:stretch>
            <a:fillRect/>
          </a:stretch>
        </p:blipFill>
        <p:spPr>
          <a:xfrm>
            <a:off x="544010" y="1197865"/>
            <a:ext cx="7407797" cy="4526280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Value appears at every stage, but the weak link is between Consideration and Purchase. Shoppers can compare 51 deals [23] yet are not told where or how to buy, despite four store formats [28] and Magnum Go delivery [25]. This gap, not discount depth, is the essay’s problem.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CUSTOMER AND VALUE CREATION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The weekly Пайда page: strong attention, no next step</a:t>
            </a:r>
            <a:endParaRPr lang="en-US" sz="2000" dirty="0"/>
          </a:p>
        </p:txBody>
      </p:sp>
      <p:sp>
        <p:nvSpPr>
          <p:cNvPr id="5" name="Visual 3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3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Пайда page confirms the gap. Its banner earns attention, but the promise of “up to 60%” was not met that week (maximum 53%), and the only instruction is to “keep following Пайда” [23]. For budget shoppers this weakens trust and leaves no next step.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7" name="Visual 3" descr="Visual 3: The weekly Пайда page: strong attention, no next step. Source: screenshot by the author of the Magnum Пайда page, Oct. 16, 2026 [23]; annotations prepared with AI assistance."/>
          <p:cNvPicPr>
            <a:picLocks noChangeAspect="1"/>
          </p:cNvPicPr>
          <p:nvPr/>
        </p:nvPicPr>
        <p:blipFill>
          <a:blip r:embed="rId3"/>
          <a:srcRect l="1139" t="6000" r="1793" b="3348"/>
          <a:stretch>
            <a:fillRect/>
          </a:stretch>
        </p:blipFill>
        <p:spPr>
          <a:xfrm>
            <a:off x="544010" y="1389888"/>
            <a:ext cx="7396223" cy="44206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CUSTOMER AND VALUE CREATION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the 51 Пайда deals actually offer</a:t>
            </a:r>
            <a:endParaRPr lang="en-US" sz="2000" dirty="0"/>
          </a:p>
        </p:txBody>
      </p:sp>
      <p:sp>
        <p:nvSpPr>
          <p:cNvPr id="5" name="Visual 4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4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7" name="Visual 4" descr="Visual 4: What the 51 Пайда deals actually offer. Source: author’s chart from the 51-product Пайда list saved Oct. 17, 2026 [23]. Prepared with AI assista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619695" cy="4876495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data refine the insight: four of the six deepest discounts are non-food, while eggs, bananas and chicken fillet sit at 18–22% [23]. The biggest discount is not the most useful one for a family basket, so a tool ranking offers by discount alone would repeat this pattern.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THE AI-SUPPORTED COMPARISON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task, two approaches: the method</a:t>
            </a:r>
            <a:endParaRPr lang="en-US" sz="2000" dirty="0"/>
          </a:p>
        </p:txBody>
      </p:sp>
      <p:sp>
        <p:nvSpPr>
          <p:cNvPr id="5" name="Visual 5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5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7" name="Visual 5" descr="Visual 5: Same task, two approaches: the method. Source: screenshot by the author of the Пайда deals, Oct. 17, 2026 [23]; method from the author’s Week 6 comparison."/>
          <p:cNvPicPr>
            <a:picLocks noChangeAspect="1"/>
          </p:cNvPicPr>
          <p:nvPr/>
        </p:nvPicPr>
        <p:blipFill>
          <a:blip r:embed="rId3"/>
          <a:srcRect l="1291" t="2410" r="1186" b="4773"/>
          <a:stretch>
            <a:fillRect/>
          </a:stretch>
        </p:blipFill>
        <p:spPr>
          <a:xfrm>
            <a:off x="555585" y="1214763"/>
            <a:ext cx="7430947" cy="4526280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To test whether AI helps, both approaches used the same 51-product list and four criteria [23]. The baseline is Magnum’s published text, assumed human-written; the AI draft followed a prompt restricted to list facts. The method is transparent but small: one week, one message.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THE AI-SUPPORTED COMPARISON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The result: same task, two outputs</a:t>
            </a:r>
            <a:endParaRPr lang="en-US" sz="2000" dirty="0"/>
          </a:p>
        </p:txBody>
      </p:sp>
      <p:sp>
        <p:nvSpPr>
          <p:cNvPr id="5" name="Visual 6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6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7" name="Visual 6" descr="Visual 6: The result: same task, two outputs. Source: screenshot by the author of the Пайда page (mobile), Oct. 17, 2026 [23]; AI draft generated with Claude (Anthropic), Oct. 17, 2026; scored by the author’s Week 6 criteri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619695" cy="4876495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AI draft met all four criteria, the baseline one. AI made the message specific and actionable, but customer response was not tested. The draft also named Magnum Go [25] without confirming Пайда prices apply there [23] and chose a non-food deal, echoing Visual 4. Human review remains essential.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TECHNOLOGY, DATA AND WORKFLOW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Proposed workflow with a human gate</a:t>
            </a:r>
            <a:endParaRPr lang="en-US" sz="2000" dirty="0"/>
          </a:p>
        </p:txBody>
      </p:sp>
      <p:sp>
        <p:nvSpPr>
          <p:cNvPr id="5" name="Visual 7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7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pic>
        <p:nvPicPr>
          <p:cNvPr id="7" name="Visual 7" descr="Visual 7: Proposed workflow with a human gate. Source: author’s Week 7 workflow, prepared with AI assistance; legal basis [7], [27]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619695" cy="4876495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workflow places a human gate before anything reaches customers: AI drafts, a copywriter checks every price and claim, and the brand manager approves. Monitoring feeds the next brief; a manual template keeps campaigns running if the tool fails. This is a proposed pilot, not Magnum’s current system [7], [27].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TECHNOLOGY, DATA AND WORKFLOW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From data to information, inside Kazakhstan’s rules</a:t>
            </a:r>
            <a:endParaRPr lang="en-US" sz="2000" dirty="0"/>
          </a:p>
        </p:txBody>
      </p:sp>
      <p:sp>
        <p:nvSpPr>
          <p:cNvPr id="5" name="Visual 8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8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pic>
        <p:nvPicPr>
          <p:cNvPr id="7" name="Visual 8" descr="Visual 8: From data to information, inside Kazakhstan’s rules. Source: author’s diagram from Weekly Record 7; [7], [27]. Prepared with AI assistance."/>
          <p:cNvPicPr>
            <a:picLocks noChangeAspect="1"/>
          </p:cNvPicPr>
          <p:nvPr/>
        </p:nvPicPr>
        <p:blipFill>
          <a:blip r:embed="rId3"/>
          <a:srcRect l="1139" t="2063" r="1490" b="5118"/>
          <a:stretch>
            <a:fillRect/>
          </a:stretch>
        </p:blipFill>
        <p:spPr>
          <a:xfrm>
            <a:off x="544011" y="1197865"/>
            <a:ext cx="7419372" cy="4526280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The data boundary is a design choice, not paperwork. Only the public promo list reaches the AI tool; member data stays in Kazakhstan under the Personal Data Law’s consent and transfer rules [7]. The AI Law also requires telling users when services use AI [27].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GOVERNANCE AND RISK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Four risks, each with a control and an owner</a:t>
            </a:r>
            <a:endParaRPr lang="en-US" sz="2000" dirty="0"/>
          </a:p>
        </p:txBody>
      </p:sp>
      <p:sp>
        <p:nvSpPr>
          <p:cNvPr id="5" name="Visual 9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9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pic>
        <p:nvPicPr>
          <p:cNvPr id="7" name="Visual 9" descr="Visual 9: Four risks, each with a control and an owner. Source: author’s Week 7 risk register; [7], [16], [24], [27]. Prepared with AI assista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7619695" cy="4876495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Privacy is the most serious risk: a leak of members’ data cannot be undone, and Kazakh law sets strict conditions [7], [24]. Its control keeps personal data out of prompts. An automatic price check plus sign-off controls reliability; a weekly food-staple rule controls bias. Residual risk: human error and unclear AI-labelling rules [27].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100" dirty="0">
                <a:solidFill>
                  <a:schemeClr val="tx2"/>
                </a:solidFill>
              </a:rPr>
              <a:t>CLOSING VISUAL AND TRANSFER VERDICT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896112" y="621792"/>
            <a:ext cx="10835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Magnum should take from Carrefour, and on what terms</a:t>
            </a:r>
            <a:endParaRPr lang="en-US" sz="2000" dirty="0"/>
          </a:p>
        </p:txBody>
      </p:sp>
      <p:sp>
        <p:nvSpPr>
          <p:cNvPr id="5" name="Visual 10 number"/>
          <p:cNvSpPr/>
          <p:nvPr/>
        </p:nvSpPr>
        <p:spPr>
          <a:xfrm>
            <a:off x="457200" y="658368"/>
            <a:ext cx="329184" cy="32918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Visual 10 number text"/>
          <p:cNvSpPr txBox="1"/>
          <p:nvPr/>
        </p:nvSpPr>
        <p:spPr>
          <a:xfrm>
            <a:off x="457200" y="658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pic>
        <p:nvPicPr>
          <p:cNvPr id="7" name="Visual 10" descr="Visual 10: What Magnum should take from Carrefour, and on what terms. Sources: screenshots by the author of carrefour.fr, Oct. 17, 2026 [29], [30], and of the CNIL notice, EDPO translation [26]; [7], [12], [19], [27]."/>
          <p:cNvPicPr>
            <a:picLocks noChangeAspect="1"/>
          </p:cNvPicPr>
          <p:nvPr/>
        </p:nvPicPr>
        <p:blipFill>
          <a:blip r:embed="rId3"/>
          <a:srcRect l="1291" t="2063" r="730" b="5118"/>
          <a:stretch>
            <a:fillRect/>
          </a:stretch>
        </p:blipFill>
        <p:spPr>
          <a:xfrm>
            <a:off x="555585" y="1197864"/>
            <a:ext cx="7465671" cy="4526281"/>
          </a:xfrm>
          <a:prstGeom prst="rect">
            <a:avLst/>
          </a:prstGeom>
        </p:spPr>
      </p:pic>
      <p:sp>
        <p:nvSpPr>
          <p:cNvPr id="9" name="Text 2"/>
          <p:cNvSpPr>
            <a:spLocks noGrp="1"/>
          </p:cNvSpPr>
          <p:nvPr>
            <p:ph type="body" idx="106" hasCustomPrompt="1"/>
          </p:nvPr>
        </p:nvSpPr>
        <p:spPr>
          <a:xfrm>
            <a:off x="8385048" y="1389888"/>
            <a:ext cx="3346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Carrefour’s Hopla shows the opportunity and the cost [29]. Magnum should adapt AI content generation, used on 2,000+ Carrefour product sheets [12], adding fact checks and Kazakh review; adopt the data controls Carrefour introduced after a €2.25 million CNIL fine [26]; and delay purchase-history personalisation and ChatGPT shopping [19]. Next: a four-week pilot tracking orders and price complaints.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62895" y="6473952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3 Photo Essay">
  <a:themeElements>
    <a:clrScheme name="A3 Photo Essay">
      <a:dk1>
        <a:srgbClr val="0B0B0B"/>
      </a:dk1>
      <a:lt1>
        <a:srgbClr val="FFFFFF"/>
      </a:lt1>
      <a:dk2>
        <a:srgbClr val="52514E"/>
      </a:dk2>
      <a:lt2>
        <a:srgbClr val="F6F5F2"/>
      </a:lt2>
      <a:accent1>
        <a:srgbClr val="C8264F"/>
      </a:accent1>
      <a:accent2>
        <a:srgbClr val="2A78D6"/>
      </a:accent2>
      <a:accent3>
        <a:srgbClr val="EB6834"/>
      </a:accent3>
      <a:accent4>
        <a:srgbClr val="1BAF7A"/>
      </a:accent4>
      <a:accent5>
        <a:srgbClr val="D03B3B"/>
      </a:accent5>
      <a:accent6>
        <a:srgbClr val="8A8984"/>
      </a:accent6>
      <a:hlink>
        <a:srgbClr val="2A78D6"/>
      </a:hlink>
      <a:folHlink>
        <a:srgbClr val="52514E"/>
      </a:folHlink>
    </a:clrScheme>
    <a:fontScheme name="A3 Photo Essa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848</Words>
  <Application>Microsoft Macintosh PowerPoint</Application>
  <PresentationFormat>Широкоэкранный</PresentationFormat>
  <Paragraphs>74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A3 Photo Essay</vt:lpstr>
      <vt:lpstr>Customer, technology and data systems reshaping value</vt:lpstr>
      <vt:lpstr>Company B: Magnum Cash&amp;Carry and the value it promises</vt:lpstr>
      <vt:lpstr>The customer journey and where it breaks</vt:lpstr>
      <vt:lpstr>The weekly Пайда page: strong attention, no next step</vt:lpstr>
      <vt:lpstr>What the 51 Пайда deals actually offer</vt:lpstr>
      <vt:lpstr>Same task, two approaches: the method</vt:lpstr>
      <vt:lpstr>The result: same task, two outputs</vt:lpstr>
      <vt:lpstr>Proposed workflow with a human gate</vt:lpstr>
      <vt:lpstr>From data to information, inside Kazakhstan’s rules</vt:lpstr>
      <vt:lpstr>Four risks, each with a control and an owner</vt:lpstr>
      <vt:lpstr>What Magnum should take from Carrefour, and on what terms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BA2026 A3 Photo Essay</dc:title>
  <dc:subject>PptxGenJS Presentation</dc:subject>
  <dc:creator>Kniazev Daniil</dc:creator>
  <cp:lastModifiedBy>Daniil Tate</cp:lastModifiedBy>
  <cp:revision>9</cp:revision>
  <dcterms:created xsi:type="dcterms:W3CDTF">2026-10-18T16:09:20Z</dcterms:created>
  <dcterms:modified xsi:type="dcterms:W3CDTF">2026-10-18T16:45:55Z</dcterms:modified>
</cp:coreProperties>
</file>